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17"/>
    <p:sldId id="271" r:id="rId18"/>
    <p:sldId id="272" r:id="rId19"/>
    <p:sldId id="273" r:id="rId20"/>
    <p:sldId id="274" r:id="rId21"/>
    <p:sldId id="282" r:id="rId22"/>
    <p:sldId id="275" r:id="rId23"/>
    <p:sldId id="276" r:id="rId24"/>
    <p:sldId id="277" r:id="rId25"/>
    <p:sldId id="278" r:id="rId26"/>
    <p:sldId id="279" r:id="rId27"/>
  </p:sldIdLst>
  <p:sldSz cx="18288000" cy="10287000"/>
  <p:notesSz cx="6858000" cy="9144000"/>
  <p:embeddedFontLst>
    <p:embeddedFont>
      <p:font typeface="Garet" panose="020B0604020202020204" charset="0"/>
      <p:regular r:id="rId29"/>
    </p:embeddedFont>
    <p:embeddedFont>
      <p:font typeface="Garet Bold" panose="020B0604020202020204" charset="0"/>
      <p:regular r:id="rId30"/>
    </p:embeddedFont>
    <p:embeddedFont>
      <p:font typeface="Poppins" panose="00000500000000000000" pitchFamily="2" charset="0"/>
      <p:regular r:id="rId31"/>
      <p:bold r:id="rId32"/>
      <p:italic r:id="rId33"/>
      <p:boldItalic r:id="rId34"/>
    </p:embeddedFont>
    <p:embeddedFont>
      <p:font typeface="Poppins Bold" panose="00000800000000000000" charset="0"/>
      <p:regular r:id="rId35"/>
    </p:embeddedFont>
    <p:embeddedFont>
      <p:font typeface="Segoe UI Bold" panose="020B0604020202020204" charset="0"/>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01" autoAdjust="0"/>
  </p:normalViewPr>
  <p:slideViewPr>
    <p:cSldViewPr>
      <p:cViewPr varScale="1">
        <p:scale>
          <a:sx n="42" d="100"/>
          <a:sy n="42" d="100"/>
        </p:scale>
        <p:origin x="78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7F6D08-B6E9-46FC-AEFC-B34491013695}" type="datetimeFigureOut">
              <a:rPr lang="fr-FR" smtClean="0"/>
              <a:t>06/07/2026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DEE5A-25EF-4C23-803C-8205AE016F7E}" type="slidenum">
              <a:rPr lang="fr-FR" smtClean="0"/>
              <a:t>‹N°›</a:t>
            </a:fld>
            <a:endParaRPr lang="fr-FR"/>
          </a:p>
        </p:txBody>
      </p:sp>
    </p:spTree>
    <p:extLst>
      <p:ext uri="{BB962C8B-B14F-4D97-AF65-F5344CB8AC3E}">
        <p14:creationId xmlns:p14="http://schemas.microsoft.com/office/powerpoint/2010/main" val="2560072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B30D6B5-DCE6-4CBA-807B-4DAF383C2D37}"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13734A-CAFA-46C1-A8E9-F8DA6513DC19}"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7413BC-472B-4B8F-8C74-05E682FDEA49}"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439E194-4874-4408-A80C-6E244E08EE2C}" type="datetime1">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F3697B-8D16-41CB-82D0-E6EDFEC03A23}" type="datetime1">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D0B092-C5F2-4E7A-8C7A-0467F5908A50}" type="datetime1">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4B3E5-51F7-4A2C-B5D8-9FD2B054ADAB}" type="datetime1">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02E528-4FA9-4C6E-B68C-CDC3B287F84C}" type="datetime1">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217E36-3B08-4BFC-8F51-0372A7030F97}" type="datetime1">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05D62C-2F47-4D54-9285-5CB6B44AD5DB}"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210E50-A062-43B5-B575-814140C9935E}"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9C147B-1928-4200-8458-F33B91521CDD}" type="datetime1">
              <a:rPr lang="en-US" smtClean="0"/>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527" b="-59509"/>
            </a:stretch>
          </a:blipFill>
        </p:spPr>
        <p:txBody>
          <a:bodyPr/>
          <a:lstStyle/>
          <a:p>
            <a:endParaRPr lang="fr-FR" noProof="0" dirty="0"/>
          </a:p>
        </p:txBody>
      </p:sp>
      <p:sp>
        <p:nvSpPr>
          <p:cNvPr id="3" name="Freeform 3"/>
          <p:cNvSpPr/>
          <p:nvPr/>
        </p:nvSpPr>
        <p:spPr>
          <a:xfrm>
            <a:off x="640607" y="2116095"/>
            <a:ext cx="17006786" cy="6054811"/>
          </a:xfrm>
          <a:custGeom>
            <a:avLst/>
            <a:gdLst/>
            <a:ahLst/>
            <a:cxnLst/>
            <a:rect l="l" t="t" r="r" b="b"/>
            <a:pathLst>
              <a:path w="17006786" h="6054811">
                <a:moveTo>
                  <a:pt x="0" y="0"/>
                </a:moveTo>
                <a:lnTo>
                  <a:pt x="17006786" y="0"/>
                </a:lnTo>
                <a:lnTo>
                  <a:pt x="17006786" y="6054810"/>
                </a:lnTo>
                <a:lnTo>
                  <a:pt x="0" y="6054810"/>
                </a:lnTo>
                <a:lnTo>
                  <a:pt x="0" y="0"/>
                </a:lnTo>
                <a:close/>
              </a:path>
            </a:pathLst>
          </a:custGeom>
          <a:blipFill>
            <a:blip r:embed="rId3"/>
            <a:stretch>
              <a:fillRect l="-3996" t="-33375" r="-3269" b="-36947"/>
            </a:stretch>
          </a:blipFill>
          <a:ln w="19050" cap="rnd">
            <a:solidFill>
              <a:srgbClr val="FFFFFF"/>
            </a:solidFill>
            <a:prstDash val="solid"/>
            <a:round/>
          </a:ln>
        </p:spPr>
        <p:txBody>
          <a:bodyPr/>
          <a:lstStyle/>
          <a:p>
            <a:endParaRPr lang="fr-FR" noProof="0" dirty="0"/>
          </a:p>
        </p:txBody>
      </p:sp>
      <p:sp>
        <p:nvSpPr>
          <p:cNvPr id="4" name="Freeform 4"/>
          <p:cNvSpPr/>
          <p:nvPr/>
        </p:nvSpPr>
        <p:spPr>
          <a:xfrm>
            <a:off x="15940908" y="1028700"/>
            <a:ext cx="2636783" cy="2631989"/>
          </a:xfrm>
          <a:custGeom>
            <a:avLst/>
            <a:gdLst/>
            <a:ahLst/>
            <a:cxnLst/>
            <a:rect l="l" t="t" r="r" b="b"/>
            <a:pathLst>
              <a:path w="2636783" h="2631989">
                <a:moveTo>
                  <a:pt x="0" y="0"/>
                </a:moveTo>
                <a:lnTo>
                  <a:pt x="2636784" y="0"/>
                </a:lnTo>
                <a:lnTo>
                  <a:pt x="2636784" y="2631989"/>
                </a:lnTo>
                <a:lnTo>
                  <a:pt x="0" y="2631989"/>
                </a:lnTo>
                <a:lnTo>
                  <a:pt x="0" y="0"/>
                </a:lnTo>
                <a:close/>
              </a:path>
            </a:pathLst>
          </a:custGeom>
          <a:blipFill>
            <a:blip r:embed="rId4">
              <a:alphaModFix amt="67000"/>
            </a:blip>
            <a:stretch>
              <a:fillRect/>
            </a:stretch>
          </a:blipFill>
        </p:spPr>
        <p:txBody>
          <a:bodyPr/>
          <a:lstStyle/>
          <a:p>
            <a:endParaRPr lang="fr-FR" noProof="0" dirty="0"/>
          </a:p>
        </p:txBody>
      </p:sp>
      <p:sp>
        <p:nvSpPr>
          <p:cNvPr id="5" name="Freeform 5"/>
          <p:cNvSpPr/>
          <p:nvPr/>
        </p:nvSpPr>
        <p:spPr>
          <a:xfrm>
            <a:off x="-677785" y="6626311"/>
            <a:ext cx="2636783" cy="2631989"/>
          </a:xfrm>
          <a:custGeom>
            <a:avLst/>
            <a:gdLst/>
            <a:ahLst/>
            <a:cxnLst/>
            <a:rect l="l" t="t" r="r" b="b"/>
            <a:pathLst>
              <a:path w="2636783" h="2631989">
                <a:moveTo>
                  <a:pt x="0" y="0"/>
                </a:moveTo>
                <a:lnTo>
                  <a:pt x="2636783" y="0"/>
                </a:lnTo>
                <a:lnTo>
                  <a:pt x="2636783" y="2631989"/>
                </a:lnTo>
                <a:lnTo>
                  <a:pt x="0" y="2631989"/>
                </a:lnTo>
                <a:lnTo>
                  <a:pt x="0" y="0"/>
                </a:lnTo>
                <a:close/>
              </a:path>
            </a:pathLst>
          </a:custGeom>
          <a:blipFill>
            <a:blip r:embed="rId4">
              <a:alphaModFix amt="67000"/>
            </a:blip>
            <a:stretch>
              <a:fillRect/>
            </a:stretch>
          </a:blipFill>
        </p:spPr>
        <p:txBody>
          <a:bodyPr/>
          <a:lstStyle/>
          <a:p>
            <a:endParaRPr lang="fr-FR" noProof="0" dirty="0"/>
          </a:p>
        </p:txBody>
      </p:sp>
      <p:sp>
        <p:nvSpPr>
          <p:cNvPr id="6" name="TextBox 6"/>
          <p:cNvSpPr txBox="1"/>
          <p:nvPr/>
        </p:nvSpPr>
        <p:spPr>
          <a:xfrm>
            <a:off x="2971800" y="1860806"/>
            <a:ext cx="13111883" cy="3282694"/>
          </a:xfrm>
          <a:prstGeom prst="rect">
            <a:avLst/>
          </a:prstGeom>
        </p:spPr>
        <p:txBody>
          <a:bodyPr wrap="square" lIns="0" tIns="0" rIns="0" bIns="0" rtlCol="0" anchor="t">
            <a:spAutoFit/>
          </a:bodyPr>
          <a:lstStyle/>
          <a:p>
            <a:pPr algn="ctr">
              <a:lnSpc>
                <a:spcPts val="32475"/>
              </a:lnSpc>
            </a:pPr>
            <a:r>
              <a:rPr lang="fr-FR" sz="4800" b="1" noProof="0" dirty="0">
                <a:solidFill>
                  <a:srgbClr val="FFFFFF"/>
                </a:solidFill>
                <a:latin typeface="Segoe UI Bold"/>
                <a:ea typeface="Segoe UI Bold"/>
                <a:cs typeface="Segoe UI Bold"/>
                <a:sym typeface="Segoe UI Bold"/>
              </a:rPr>
              <a:t>SOUTENANCE PROJET INTEGRATEUR</a:t>
            </a:r>
          </a:p>
        </p:txBody>
      </p:sp>
      <p:sp>
        <p:nvSpPr>
          <p:cNvPr id="7" name="TextBox 7"/>
          <p:cNvSpPr txBox="1"/>
          <p:nvPr/>
        </p:nvSpPr>
        <p:spPr>
          <a:xfrm>
            <a:off x="-3009634" y="5029200"/>
            <a:ext cx="24421834" cy="1085199"/>
          </a:xfrm>
          <a:prstGeom prst="rect">
            <a:avLst/>
          </a:prstGeom>
        </p:spPr>
        <p:txBody>
          <a:bodyPr lIns="0" tIns="0" rIns="0" bIns="0" rtlCol="0" anchor="t">
            <a:spAutoFit/>
          </a:bodyPr>
          <a:lstStyle/>
          <a:p>
            <a:pPr marL="0" lvl="0" indent="0" algn="ctr">
              <a:lnSpc>
                <a:spcPts val="8960"/>
              </a:lnSpc>
              <a:spcBef>
                <a:spcPct val="0"/>
              </a:spcBef>
            </a:pPr>
            <a:r>
              <a:rPr lang="fr-FR" sz="6400" b="1" noProof="0" dirty="0">
                <a:solidFill>
                  <a:srgbClr val="EE3F1E"/>
                </a:solidFill>
                <a:latin typeface="Garet Bold"/>
                <a:ea typeface="Garet Bold"/>
                <a:cs typeface="Garet Bold"/>
                <a:sym typeface="Garet Bold"/>
              </a:rPr>
              <a:t>SYSTEME DE GESTION D’ENTREPOTS</a:t>
            </a:r>
          </a:p>
        </p:txBody>
      </p:sp>
      <p:sp>
        <p:nvSpPr>
          <p:cNvPr id="8" name="TextBox 8"/>
          <p:cNvSpPr txBox="1"/>
          <p:nvPr/>
        </p:nvSpPr>
        <p:spPr>
          <a:xfrm>
            <a:off x="4974637" y="6274592"/>
            <a:ext cx="8338726" cy="441325"/>
          </a:xfrm>
          <a:prstGeom prst="rect">
            <a:avLst/>
          </a:prstGeom>
        </p:spPr>
        <p:txBody>
          <a:bodyPr lIns="0" tIns="0" rIns="0" bIns="0" rtlCol="0" anchor="t">
            <a:spAutoFit/>
          </a:bodyPr>
          <a:lstStyle/>
          <a:p>
            <a:pPr algn="ctr">
              <a:lnSpc>
                <a:spcPts val="3499"/>
              </a:lnSpc>
              <a:spcBef>
                <a:spcPct val="0"/>
              </a:spcBef>
            </a:pPr>
            <a:r>
              <a:rPr lang="fr-FR" sz="2499" spc="1972" noProof="0" dirty="0">
                <a:solidFill>
                  <a:srgbClr val="FFFFFF"/>
                </a:solidFill>
                <a:latin typeface="Poppins"/>
                <a:ea typeface="Poppins"/>
                <a:cs typeface="Poppins"/>
                <a:sym typeface="Poppins"/>
              </a:rPr>
              <a:t>GROUPE 1</a:t>
            </a:r>
          </a:p>
        </p:txBody>
      </p:sp>
      <p:sp>
        <p:nvSpPr>
          <p:cNvPr id="11" name="Slide Number Placeholder 10">
            <a:extLst>
              <a:ext uri="{FF2B5EF4-FFF2-40B4-BE49-F238E27FC236}">
                <a16:creationId xmlns:a16="http://schemas.microsoft.com/office/drawing/2014/main" id="{66875AD7-0F1A-7A83-7881-A71C49853F8A}"/>
              </a:ext>
            </a:extLst>
          </p:cNvPr>
          <p:cNvSpPr>
            <a:spLocks noGrp="1"/>
          </p:cNvSpPr>
          <p:nvPr>
            <p:ph type="sldNum" sz="quarter" idx="12"/>
          </p:nvPr>
        </p:nvSpPr>
        <p:spPr>
          <a:xfrm>
            <a:off x="15977919" y="9674751"/>
            <a:ext cx="2133600" cy="365125"/>
          </a:xfrm>
        </p:spPr>
        <p:txBody>
          <a:bodyPr/>
          <a:lstStyle/>
          <a:p>
            <a:fld id="{B6F15528-21DE-4FAA-801E-634DDDAF4B2B}" type="slidenum">
              <a:rPr lang="en-US" smtClean="0"/>
              <a:pPr/>
              <a:t>1</a:t>
            </a:fld>
            <a:endParaRPr lang="en-US" dirty="0"/>
          </a:p>
        </p:txBody>
      </p:sp>
      <p:pic>
        <p:nvPicPr>
          <p:cNvPr id="13" name="Picture 12">
            <a:extLst>
              <a:ext uri="{FF2B5EF4-FFF2-40B4-BE49-F238E27FC236}">
                <a16:creationId xmlns:a16="http://schemas.microsoft.com/office/drawing/2014/main" id="{3EBB32BB-6F8F-C03E-952C-94B9D90C09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940" y="-134074"/>
            <a:ext cx="5586037" cy="13649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grpSp>
        <p:nvGrpSpPr>
          <p:cNvPr id="2" name="Group 2"/>
          <p:cNvGrpSpPr/>
          <p:nvPr/>
        </p:nvGrpSpPr>
        <p:grpSpPr>
          <a:xfrm>
            <a:off x="9833441" y="2643285"/>
            <a:ext cx="4920524" cy="2500215"/>
            <a:chOff x="0" y="0"/>
            <a:chExt cx="1599623" cy="812800"/>
          </a:xfrm>
        </p:grpSpPr>
        <p:sp>
          <p:nvSpPr>
            <p:cNvPr id="3" name="Freeform 3"/>
            <p:cNvSpPr/>
            <p:nvPr/>
          </p:nvSpPr>
          <p:spPr>
            <a:xfrm>
              <a:off x="0" y="0"/>
              <a:ext cx="1599623" cy="812800"/>
            </a:xfrm>
            <a:custGeom>
              <a:avLst/>
              <a:gdLst/>
              <a:ahLst/>
              <a:cxnLst/>
              <a:rect l="l" t="t" r="r" b="b"/>
              <a:pathLst>
                <a:path w="1599623" h="812800">
                  <a:moveTo>
                    <a:pt x="36188" y="0"/>
                  </a:moveTo>
                  <a:lnTo>
                    <a:pt x="1563435" y="0"/>
                  </a:lnTo>
                  <a:cubicBezTo>
                    <a:pt x="1573033" y="0"/>
                    <a:pt x="1582238" y="3813"/>
                    <a:pt x="1589024" y="10599"/>
                  </a:cubicBezTo>
                  <a:cubicBezTo>
                    <a:pt x="1595811" y="17386"/>
                    <a:pt x="1599623" y="26590"/>
                    <a:pt x="1599623" y="36188"/>
                  </a:cubicBezTo>
                  <a:lnTo>
                    <a:pt x="1599623" y="776612"/>
                  </a:lnTo>
                  <a:cubicBezTo>
                    <a:pt x="1599623" y="786210"/>
                    <a:pt x="1595811" y="795414"/>
                    <a:pt x="1589024" y="802201"/>
                  </a:cubicBezTo>
                  <a:cubicBezTo>
                    <a:pt x="1582238" y="808987"/>
                    <a:pt x="1573033" y="812800"/>
                    <a:pt x="1563435" y="812800"/>
                  </a:cubicBezTo>
                  <a:lnTo>
                    <a:pt x="36188" y="812800"/>
                  </a:lnTo>
                  <a:cubicBezTo>
                    <a:pt x="26590" y="812800"/>
                    <a:pt x="17386" y="808987"/>
                    <a:pt x="10599" y="802201"/>
                  </a:cubicBezTo>
                  <a:cubicBezTo>
                    <a:pt x="3813" y="795414"/>
                    <a:pt x="0" y="786210"/>
                    <a:pt x="0" y="776612"/>
                  </a:cubicBezTo>
                  <a:lnTo>
                    <a:pt x="0" y="36188"/>
                  </a:lnTo>
                  <a:cubicBezTo>
                    <a:pt x="0" y="26590"/>
                    <a:pt x="3813" y="17386"/>
                    <a:pt x="10599" y="10599"/>
                  </a:cubicBezTo>
                  <a:cubicBezTo>
                    <a:pt x="17386" y="3813"/>
                    <a:pt x="26590" y="0"/>
                    <a:pt x="36188" y="0"/>
                  </a:cubicBezTo>
                  <a:close/>
                </a:path>
              </a:pathLst>
            </a:custGeom>
            <a:blipFill>
              <a:blip r:embed="rId2"/>
              <a:stretch>
                <a:fillRect t="-20210" b="-11401"/>
              </a:stretch>
            </a:blipFill>
          </p:spPr>
          <p:txBody>
            <a:bodyPr/>
            <a:lstStyle/>
            <a:p>
              <a:endParaRPr lang="fr-FR" noProof="0" dirty="0"/>
            </a:p>
          </p:txBody>
        </p:sp>
      </p:grpSp>
      <p:sp>
        <p:nvSpPr>
          <p:cNvPr id="4" name="TextBox 4"/>
          <p:cNvSpPr txBox="1"/>
          <p:nvPr/>
        </p:nvSpPr>
        <p:spPr>
          <a:xfrm>
            <a:off x="1028700" y="4177780"/>
            <a:ext cx="7457668" cy="3453130"/>
          </a:xfrm>
          <a:prstGeom prst="rect">
            <a:avLst/>
          </a:prstGeom>
        </p:spPr>
        <p:txBody>
          <a:bodyPr lIns="0" tIns="0" rIns="0" bIns="0" rtlCol="0" anchor="t">
            <a:spAutoFit/>
          </a:bodyPr>
          <a:lstStyle/>
          <a:p>
            <a:pPr marL="604519" lvl="1" indent="-302260" algn="l">
              <a:lnSpc>
                <a:spcPts val="3919"/>
              </a:lnSpc>
              <a:buFont typeface="Arial"/>
              <a:buChar char="•"/>
            </a:pPr>
            <a:r>
              <a:rPr lang="fr-FR" sz="2799" noProof="0" dirty="0">
                <a:solidFill>
                  <a:srgbClr val="000000"/>
                </a:solidFill>
                <a:latin typeface="Garet"/>
                <a:ea typeface="Garet"/>
                <a:cs typeface="Garet"/>
                <a:sym typeface="Garet"/>
              </a:rPr>
              <a:t>SIMO MEBOU </a:t>
            </a:r>
            <a:r>
              <a:rPr lang="fr-FR" sz="2799" noProof="0" dirty="0" err="1">
                <a:solidFill>
                  <a:srgbClr val="000000"/>
                </a:solidFill>
                <a:latin typeface="Garet"/>
                <a:ea typeface="Garet"/>
                <a:cs typeface="Garet"/>
                <a:sym typeface="Garet"/>
              </a:rPr>
              <a:t>Stessy</a:t>
            </a:r>
            <a:r>
              <a:rPr lang="fr-FR" sz="2799" noProof="0" dirty="0">
                <a:solidFill>
                  <a:srgbClr val="000000"/>
                </a:solidFill>
                <a:latin typeface="Garet"/>
                <a:ea typeface="Garet"/>
                <a:cs typeface="Garet"/>
                <a:sym typeface="Garet"/>
              </a:rPr>
              <a:t>-Clara (cheffe)</a:t>
            </a:r>
          </a:p>
          <a:p>
            <a:pPr marL="604519" lvl="1" indent="-302260" algn="l">
              <a:lnSpc>
                <a:spcPts val="3919"/>
              </a:lnSpc>
              <a:buFont typeface="Arial"/>
              <a:buChar char="•"/>
            </a:pPr>
            <a:r>
              <a:rPr lang="fr-FR" sz="2799" noProof="0" dirty="0">
                <a:solidFill>
                  <a:srgbClr val="000000"/>
                </a:solidFill>
                <a:latin typeface="Garet"/>
                <a:ea typeface="Garet"/>
                <a:cs typeface="Garet"/>
                <a:sym typeface="Garet"/>
              </a:rPr>
              <a:t>KOM Lucien Emmanuel</a:t>
            </a:r>
          </a:p>
          <a:p>
            <a:pPr marL="604519" lvl="1" indent="-302260" algn="l">
              <a:lnSpc>
                <a:spcPts val="3919"/>
              </a:lnSpc>
              <a:buFont typeface="Arial"/>
              <a:buChar char="•"/>
            </a:pPr>
            <a:r>
              <a:rPr lang="fr-FR" sz="2799" noProof="0" dirty="0">
                <a:solidFill>
                  <a:srgbClr val="000000"/>
                </a:solidFill>
                <a:latin typeface="Garet"/>
                <a:ea typeface="Garet"/>
                <a:cs typeface="Garet"/>
                <a:sym typeface="Garet"/>
              </a:rPr>
              <a:t>BELA NTE Jennifer</a:t>
            </a:r>
          </a:p>
          <a:p>
            <a:pPr marL="604519" lvl="1" indent="-302260" algn="l">
              <a:lnSpc>
                <a:spcPts val="3919"/>
              </a:lnSpc>
              <a:buFont typeface="Arial"/>
              <a:buChar char="•"/>
            </a:pPr>
            <a:r>
              <a:rPr lang="fr-FR" sz="2799" noProof="0" dirty="0">
                <a:solidFill>
                  <a:srgbClr val="000000"/>
                </a:solidFill>
                <a:latin typeface="Garet"/>
                <a:ea typeface="Garet"/>
                <a:cs typeface="Garet"/>
                <a:sym typeface="Garet"/>
              </a:rPr>
              <a:t>LILI GARBA Danielle</a:t>
            </a:r>
          </a:p>
          <a:p>
            <a:pPr marL="604519" lvl="1" indent="-302260" algn="l">
              <a:lnSpc>
                <a:spcPts val="3919"/>
              </a:lnSpc>
              <a:buFont typeface="Arial"/>
              <a:buChar char="•"/>
            </a:pPr>
            <a:r>
              <a:rPr lang="fr-FR" sz="2799" noProof="0" dirty="0">
                <a:solidFill>
                  <a:srgbClr val="000000"/>
                </a:solidFill>
                <a:latin typeface="Garet"/>
                <a:ea typeface="Garet"/>
                <a:cs typeface="Garet"/>
                <a:sym typeface="Garet"/>
              </a:rPr>
              <a:t>ABADOMA Maurice Bryan</a:t>
            </a:r>
          </a:p>
          <a:p>
            <a:pPr marL="604519" lvl="1" indent="-302260" algn="l">
              <a:lnSpc>
                <a:spcPts val="3919"/>
              </a:lnSpc>
              <a:buFont typeface="Arial"/>
              <a:buChar char="•"/>
            </a:pPr>
            <a:r>
              <a:rPr lang="fr-FR" sz="2799" noProof="0" dirty="0">
                <a:solidFill>
                  <a:srgbClr val="000000"/>
                </a:solidFill>
                <a:latin typeface="Garet"/>
                <a:ea typeface="Garet"/>
                <a:cs typeface="Garet"/>
                <a:sym typeface="Garet"/>
              </a:rPr>
              <a:t>WABO </a:t>
            </a:r>
            <a:r>
              <a:rPr lang="fr-FR" sz="2799" noProof="0" dirty="0" err="1">
                <a:solidFill>
                  <a:srgbClr val="000000"/>
                </a:solidFill>
                <a:latin typeface="Garet"/>
                <a:ea typeface="Garet"/>
                <a:cs typeface="Garet"/>
                <a:sym typeface="Garet"/>
              </a:rPr>
              <a:t>WABO</a:t>
            </a:r>
            <a:r>
              <a:rPr lang="fr-FR" sz="2799" noProof="0" dirty="0">
                <a:solidFill>
                  <a:srgbClr val="000000"/>
                </a:solidFill>
                <a:latin typeface="Garet"/>
                <a:ea typeface="Garet"/>
                <a:cs typeface="Garet"/>
                <a:sym typeface="Garet"/>
              </a:rPr>
              <a:t> Chris-Erwan</a:t>
            </a:r>
          </a:p>
          <a:p>
            <a:pPr marL="604519" lvl="1" indent="-302260" algn="l">
              <a:lnSpc>
                <a:spcPts val="3919"/>
              </a:lnSpc>
              <a:spcBef>
                <a:spcPct val="0"/>
              </a:spcBef>
              <a:buFont typeface="Arial"/>
              <a:buChar char="•"/>
            </a:pPr>
            <a:r>
              <a:rPr lang="fr-FR" sz="2799" noProof="0" dirty="0">
                <a:solidFill>
                  <a:srgbClr val="000000"/>
                </a:solidFill>
                <a:latin typeface="Garet"/>
                <a:ea typeface="Garet"/>
                <a:cs typeface="Garet"/>
                <a:sym typeface="Garet"/>
              </a:rPr>
              <a:t>TAMIBE BONGORO Junior</a:t>
            </a:r>
          </a:p>
        </p:txBody>
      </p:sp>
      <p:grpSp>
        <p:nvGrpSpPr>
          <p:cNvPr id="5" name="Group 5"/>
          <p:cNvGrpSpPr/>
          <p:nvPr/>
        </p:nvGrpSpPr>
        <p:grpSpPr>
          <a:xfrm>
            <a:off x="11360343" y="5593830"/>
            <a:ext cx="4920524" cy="2500215"/>
            <a:chOff x="0" y="0"/>
            <a:chExt cx="1599623" cy="812800"/>
          </a:xfrm>
        </p:grpSpPr>
        <p:sp>
          <p:nvSpPr>
            <p:cNvPr id="6" name="Freeform 6"/>
            <p:cNvSpPr/>
            <p:nvPr/>
          </p:nvSpPr>
          <p:spPr>
            <a:xfrm>
              <a:off x="0" y="0"/>
              <a:ext cx="1599623" cy="812800"/>
            </a:xfrm>
            <a:custGeom>
              <a:avLst/>
              <a:gdLst/>
              <a:ahLst/>
              <a:cxnLst/>
              <a:rect l="l" t="t" r="r" b="b"/>
              <a:pathLst>
                <a:path w="1599623" h="812800">
                  <a:moveTo>
                    <a:pt x="36188" y="0"/>
                  </a:moveTo>
                  <a:lnTo>
                    <a:pt x="1563435" y="0"/>
                  </a:lnTo>
                  <a:cubicBezTo>
                    <a:pt x="1573033" y="0"/>
                    <a:pt x="1582238" y="3813"/>
                    <a:pt x="1589024" y="10599"/>
                  </a:cubicBezTo>
                  <a:cubicBezTo>
                    <a:pt x="1595811" y="17386"/>
                    <a:pt x="1599623" y="26590"/>
                    <a:pt x="1599623" y="36188"/>
                  </a:cubicBezTo>
                  <a:lnTo>
                    <a:pt x="1599623" y="776612"/>
                  </a:lnTo>
                  <a:cubicBezTo>
                    <a:pt x="1599623" y="786210"/>
                    <a:pt x="1595811" y="795414"/>
                    <a:pt x="1589024" y="802201"/>
                  </a:cubicBezTo>
                  <a:cubicBezTo>
                    <a:pt x="1582238" y="808987"/>
                    <a:pt x="1573033" y="812800"/>
                    <a:pt x="1563435" y="812800"/>
                  </a:cubicBezTo>
                  <a:lnTo>
                    <a:pt x="36188" y="812800"/>
                  </a:lnTo>
                  <a:cubicBezTo>
                    <a:pt x="26590" y="812800"/>
                    <a:pt x="17386" y="808987"/>
                    <a:pt x="10599" y="802201"/>
                  </a:cubicBezTo>
                  <a:cubicBezTo>
                    <a:pt x="3813" y="795414"/>
                    <a:pt x="0" y="786210"/>
                    <a:pt x="0" y="776612"/>
                  </a:cubicBezTo>
                  <a:lnTo>
                    <a:pt x="0" y="36188"/>
                  </a:lnTo>
                  <a:cubicBezTo>
                    <a:pt x="0" y="26590"/>
                    <a:pt x="3813" y="17386"/>
                    <a:pt x="10599" y="10599"/>
                  </a:cubicBezTo>
                  <a:cubicBezTo>
                    <a:pt x="17386" y="3813"/>
                    <a:pt x="26590" y="0"/>
                    <a:pt x="36188" y="0"/>
                  </a:cubicBezTo>
                  <a:close/>
                </a:path>
              </a:pathLst>
            </a:custGeom>
            <a:blipFill>
              <a:blip r:embed="rId3"/>
              <a:stretch>
                <a:fillRect b="-31120"/>
              </a:stretch>
            </a:blipFill>
          </p:spPr>
          <p:txBody>
            <a:bodyPr/>
            <a:lstStyle/>
            <a:p>
              <a:endParaRPr lang="fr-FR" noProof="0" dirty="0"/>
            </a:p>
          </p:txBody>
        </p:sp>
      </p:grpSp>
      <p:sp>
        <p:nvSpPr>
          <p:cNvPr id="7" name="TextBox 7"/>
          <p:cNvSpPr txBox="1"/>
          <p:nvPr/>
        </p:nvSpPr>
        <p:spPr>
          <a:xfrm>
            <a:off x="1028731" y="1303435"/>
            <a:ext cx="7665579" cy="2489200"/>
          </a:xfrm>
          <a:prstGeom prst="rect">
            <a:avLst/>
          </a:prstGeom>
        </p:spPr>
        <p:txBody>
          <a:bodyPr lIns="0" tIns="0" rIns="0" bIns="0" rtlCol="0" anchor="t">
            <a:spAutoFit/>
          </a:bodyPr>
          <a:lstStyle/>
          <a:p>
            <a:pPr algn="l">
              <a:lnSpc>
                <a:spcPts val="9799"/>
              </a:lnSpc>
            </a:pPr>
            <a:r>
              <a:rPr lang="fr-FR" sz="6999" b="1" noProof="0" dirty="0">
                <a:solidFill>
                  <a:srgbClr val="EE3F1E"/>
                </a:solidFill>
                <a:latin typeface="Poppins Bold"/>
                <a:ea typeface="Poppins Bold"/>
                <a:cs typeface="Poppins Bold"/>
                <a:sym typeface="Poppins Bold"/>
              </a:rPr>
              <a:t>MEMBRES DU GROUPE</a:t>
            </a:r>
          </a:p>
        </p:txBody>
      </p:sp>
      <p:sp>
        <p:nvSpPr>
          <p:cNvPr id="8" name="AutoShape 8"/>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11" name="Slide Number Placeholder 10">
            <a:extLst>
              <a:ext uri="{FF2B5EF4-FFF2-40B4-BE49-F238E27FC236}">
                <a16:creationId xmlns:a16="http://schemas.microsoft.com/office/drawing/2014/main" id="{2F505422-D7B2-B30F-11F7-48A40ED1BEA1}"/>
              </a:ext>
            </a:extLst>
          </p:cNvPr>
          <p:cNvSpPr>
            <a:spLocks noGrp="1"/>
          </p:cNvSpPr>
          <p:nvPr>
            <p:ph type="sldNum" sz="quarter" idx="12"/>
          </p:nvPr>
        </p:nvSpPr>
        <p:spPr>
          <a:xfrm>
            <a:off x="15849600" y="9563100"/>
            <a:ext cx="2133600" cy="365125"/>
          </a:xfrm>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grpSp>
        <p:nvGrpSpPr>
          <p:cNvPr id="2" name="Group 2"/>
          <p:cNvGrpSpPr/>
          <p:nvPr/>
        </p:nvGrpSpPr>
        <p:grpSpPr>
          <a:xfrm>
            <a:off x="1009416" y="3574569"/>
            <a:ext cx="642907" cy="64290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1</a:t>
              </a:r>
            </a:p>
          </p:txBody>
        </p:sp>
      </p:grpSp>
      <p:grpSp>
        <p:nvGrpSpPr>
          <p:cNvPr id="5" name="Group 5"/>
          <p:cNvGrpSpPr/>
          <p:nvPr/>
        </p:nvGrpSpPr>
        <p:grpSpPr>
          <a:xfrm>
            <a:off x="1009416" y="5053763"/>
            <a:ext cx="642907" cy="64290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2</a:t>
              </a:r>
            </a:p>
          </p:txBody>
        </p:sp>
      </p:grpSp>
      <p:grpSp>
        <p:nvGrpSpPr>
          <p:cNvPr id="8" name="Group 8"/>
          <p:cNvGrpSpPr/>
          <p:nvPr/>
        </p:nvGrpSpPr>
        <p:grpSpPr>
          <a:xfrm>
            <a:off x="1009416" y="6292897"/>
            <a:ext cx="642907" cy="6429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3</a:t>
              </a:r>
            </a:p>
          </p:txBody>
        </p:sp>
      </p:grpSp>
      <p:grpSp>
        <p:nvGrpSpPr>
          <p:cNvPr id="11" name="Group 11"/>
          <p:cNvGrpSpPr/>
          <p:nvPr/>
        </p:nvGrpSpPr>
        <p:grpSpPr>
          <a:xfrm>
            <a:off x="12889500" y="1635391"/>
            <a:ext cx="5119163" cy="2763344"/>
            <a:chOff x="0" y="0"/>
            <a:chExt cx="812800" cy="418689"/>
          </a:xfrm>
        </p:grpSpPr>
        <p:sp>
          <p:nvSpPr>
            <p:cNvPr id="12" name="Freeform 12"/>
            <p:cNvSpPr/>
            <p:nvPr/>
          </p:nvSpPr>
          <p:spPr>
            <a:xfrm>
              <a:off x="0" y="0"/>
              <a:ext cx="812800" cy="418689"/>
            </a:xfrm>
            <a:custGeom>
              <a:avLst/>
              <a:gdLst/>
              <a:ahLst/>
              <a:cxnLst/>
              <a:rect l="l" t="t" r="r" b="b"/>
              <a:pathLst>
                <a:path w="812800" h="418689">
                  <a:moveTo>
                    <a:pt x="33193" y="0"/>
                  </a:moveTo>
                  <a:lnTo>
                    <a:pt x="779607" y="0"/>
                  </a:lnTo>
                  <a:cubicBezTo>
                    <a:pt x="797939" y="0"/>
                    <a:pt x="812800" y="14861"/>
                    <a:pt x="812800" y="33193"/>
                  </a:cubicBezTo>
                  <a:lnTo>
                    <a:pt x="812800" y="385496"/>
                  </a:lnTo>
                  <a:cubicBezTo>
                    <a:pt x="812800" y="394300"/>
                    <a:pt x="809303" y="402742"/>
                    <a:pt x="803078" y="408967"/>
                  </a:cubicBezTo>
                  <a:cubicBezTo>
                    <a:pt x="796853" y="415192"/>
                    <a:pt x="788410" y="418689"/>
                    <a:pt x="779607" y="418689"/>
                  </a:cubicBezTo>
                  <a:lnTo>
                    <a:pt x="33193" y="418689"/>
                  </a:lnTo>
                  <a:cubicBezTo>
                    <a:pt x="14861" y="418689"/>
                    <a:pt x="0" y="403828"/>
                    <a:pt x="0" y="385496"/>
                  </a:cubicBezTo>
                  <a:lnTo>
                    <a:pt x="0" y="33193"/>
                  </a:lnTo>
                  <a:cubicBezTo>
                    <a:pt x="0" y="14861"/>
                    <a:pt x="14861" y="0"/>
                    <a:pt x="33193" y="0"/>
                  </a:cubicBezTo>
                  <a:close/>
                </a:path>
              </a:pathLst>
            </a:custGeom>
            <a:blipFill>
              <a:blip r:embed="rId2"/>
              <a:stretch>
                <a:fillRect t="-14669" b="-14669"/>
              </a:stretch>
            </a:blipFill>
          </p:spPr>
          <p:txBody>
            <a:bodyPr/>
            <a:lstStyle/>
            <a:p>
              <a:endParaRPr lang="fr-FR" noProof="0" dirty="0"/>
            </a:p>
          </p:txBody>
        </p:sp>
      </p:grpSp>
      <p:sp>
        <p:nvSpPr>
          <p:cNvPr id="13" name="TextBox 13"/>
          <p:cNvSpPr txBox="1"/>
          <p:nvPr/>
        </p:nvSpPr>
        <p:spPr>
          <a:xfrm>
            <a:off x="1028731" y="1905348"/>
            <a:ext cx="5649774" cy="1250950"/>
          </a:xfrm>
          <a:prstGeom prst="rect">
            <a:avLst/>
          </a:prstGeom>
        </p:spPr>
        <p:txBody>
          <a:bodyPr lIns="0" tIns="0" rIns="0" bIns="0" rtlCol="0" anchor="t">
            <a:spAutoFit/>
          </a:bodyPr>
          <a:lstStyle/>
          <a:p>
            <a:pPr algn="l">
              <a:lnSpc>
                <a:spcPts val="9799"/>
              </a:lnSpc>
            </a:pPr>
            <a:r>
              <a:rPr lang="fr-FR" sz="6999" b="1" noProof="0" dirty="0">
                <a:solidFill>
                  <a:srgbClr val="EE3F1E"/>
                </a:solidFill>
                <a:latin typeface="Poppins Bold"/>
                <a:ea typeface="Poppins Bold"/>
                <a:cs typeface="Poppins Bold"/>
                <a:sym typeface="Poppins Bold"/>
              </a:rPr>
              <a:t>SOMMAIRE</a:t>
            </a:r>
          </a:p>
        </p:txBody>
      </p:sp>
      <p:grpSp>
        <p:nvGrpSpPr>
          <p:cNvPr id="14" name="Group 14"/>
          <p:cNvGrpSpPr/>
          <p:nvPr/>
        </p:nvGrpSpPr>
        <p:grpSpPr>
          <a:xfrm>
            <a:off x="12944130" y="5690487"/>
            <a:ext cx="4962870" cy="2763344"/>
            <a:chOff x="24305" y="843433"/>
            <a:chExt cx="812800" cy="418689"/>
          </a:xfrm>
        </p:grpSpPr>
        <p:sp>
          <p:nvSpPr>
            <p:cNvPr id="15" name="Freeform 15"/>
            <p:cNvSpPr/>
            <p:nvPr/>
          </p:nvSpPr>
          <p:spPr>
            <a:xfrm>
              <a:off x="24305" y="843433"/>
              <a:ext cx="812800" cy="418689"/>
            </a:xfrm>
            <a:custGeom>
              <a:avLst/>
              <a:gdLst/>
              <a:ahLst/>
              <a:cxnLst/>
              <a:rect l="l" t="t" r="r" b="b"/>
              <a:pathLst>
                <a:path w="812800" h="418689">
                  <a:moveTo>
                    <a:pt x="33193" y="0"/>
                  </a:moveTo>
                  <a:lnTo>
                    <a:pt x="779607" y="0"/>
                  </a:lnTo>
                  <a:cubicBezTo>
                    <a:pt x="797939" y="0"/>
                    <a:pt x="812800" y="14861"/>
                    <a:pt x="812800" y="33193"/>
                  </a:cubicBezTo>
                  <a:lnTo>
                    <a:pt x="812800" y="385496"/>
                  </a:lnTo>
                  <a:cubicBezTo>
                    <a:pt x="812800" y="394300"/>
                    <a:pt x="809303" y="402742"/>
                    <a:pt x="803078" y="408967"/>
                  </a:cubicBezTo>
                  <a:cubicBezTo>
                    <a:pt x="796853" y="415192"/>
                    <a:pt x="788410" y="418689"/>
                    <a:pt x="779607" y="418689"/>
                  </a:cubicBezTo>
                  <a:lnTo>
                    <a:pt x="33193" y="418689"/>
                  </a:lnTo>
                  <a:cubicBezTo>
                    <a:pt x="14861" y="418689"/>
                    <a:pt x="0" y="403828"/>
                    <a:pt x="0" y="385496"/>
                  </a:cubicBezTo>
                  <a:lnTo>
                    <a:pt x="0" y="33193"/>
                  </a:lnTo>
                  <a:cubicBezTo>
                    <a:pt x="0" y="14861"/>
                    <a:pt x="14861" y="0"/>
                    <a:pt x="33193" y="0"/>
                  </a:cubicBezTo>
                  <a:close/>
                </a:path>
              </a:pathLst>
            </a:custGeom>
            <a:blipFill>
              <a:blip r:embed="rId3"/>
              <a:stretch>
                <a:fillRect t="-14709" b="-14709"/>
              </a:stretch>
            </a:blipFill>
          </p:spPr>
          <p:txBody>
            <a:bodyPr/>
            <a:lstStyle/>
            <a:p>
              <a:endParaRPr lang="fr-FR" noProof="0" dirty="0"/>
            </a:p>
          </p:txBody>
        </p:sp>
      </p:grpSp>
      <p:sp>
        <p:nvSpPr>
          <p:cNvPr id="16" name="AutoShape 16"/>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20" name="Slide Number Placeholder 19">
            <a:extLst>
              <a:ext uri="{FF2B5EF4-FFF2-40B4-BE49-F238E27FC236}">
                <a16:creationId xmlns:a16="http://schemas.microsoft.com/office/drawing/2014/main" id="{D9952C8B-D9BF-B9A1-B333-3064F5B08C5A}"/>
              </a:ext>
            </a:extLst>
          </p:cNvPr>
          <p:cNvSpPr>
            <a:spLocks noGrp="1"/>
          </p:cNvSpPr>
          <p:nvPr>
            <p:ph type="sldNum" sz="quarter" idx="12"/>
          </p:nvPr>
        </p:nvSpPr>
        <p:spPr>
          <a:xfrm>
            <a:off x="15773400" y="9598349"/>
            <a:ext cx="2133600" cy="365125"/>
          </a:xfrm>
        </p:spPr>
        <p:txBody>
          <a:bodyPr/>
          <a:lstStyle/>
          <a:p>
            <a:fld id="{B6F15528-21DE-4FAA-801E-634DDDAF4B2B}" type="slidenum">
              <a:rPr lang="en-US" smtClean="0"/>
              <a:pPr/>
              <a:t>3</a:t>
            </a:fld>
            <a:endParaRPr lang="en-US"/>
          </a:p>
        </p:txBody>
      </p:sp>
      <p:grpSp>
        <p:nvGrpSpPr>
          <p:cNvPr id="19" name="Group 2">
            <a:extLst>
              <a:ext uri="{FF2B5EF4-FFF2-40B4-BE49-F238E27FC236}">
                <a16:creationId xmlns:a16="http://schemas.microsoft.com/office/drawing/2014/main" id="{38714907-EDED-38E4-7CEE-3A05AAC372EA}"/>
              </a:ext>
            </a:extLst>
          </p:cNvPr>
          <p:cNvGrpSpPr/>
          <p:nvPr/>
        </p:nvGrpSpPr>
        <p:grpSpPr>
          <a:xfrm>
            <a:off x="9448800" y="3604705"/>
            <a:ext cx="642907" cy="642907"/>
            <a:chOff x="0" y="0"/>
            <a:chExt cx="812800" cy="812800"/>
          </a:xfrm>
        </p:grpSpPr>
        <p:sp>
          <p:nvSpPr>
            <p:cNvPr id="21" name="Freeform 3">
              <a:extLst>
                <a:ext uri="{FF2B5EF4-FFF2-40B4-BE49-F238E27FC236}">
                  <a16:creationId xmlns:a16="http://schemas.microsoft.com/office/drawing/2014/main" id="{C1DC5D19-AEE6-15A7-80E2-EA674915AD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22" name="TextBox 4">
              <a:extLst>
                <a:ext uri="{FF2B5EF4-FFF2-40B4-BE49-F238E27FC236}">
                  <a16:creationId xmlns:a16="http://schemas.microsoft.com/office/drawing/2014/main" id="{D130A098-D5C4-172B-CE81-6927406CC58D}"/>
                </a:ext>
              </a:extLst>
            </p:cNvPr>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5</a:t>
              </a:r>
            </a:p>
          </p:txBody>
        </p:sp>
      </p:grpSp>
      <p:sp>
        <p:nvSpPr>
          <p:cNvPr id="23" name="TextBox 14">
            <a:extLst>
              <a:ext uri="{FF2B5EF4-FFF2-40B4-BE49-F238E27FC236}">
                <a16:creationId xmlns:a16="http://schemas.microsoft.com/office/drawing/2014/main" id="{C0276CAB-9BB8-43A8-559C-91DD9C7CA648}"/>
              </a:ext>
            </a:extLst>
          </p:cNvPr>
          <p:cNvSpPr txBox="1"/>
          <p:nvPr/>
        </p:nvSpPr>
        <p:spPr>
          <a:xfrm>
            <a:off x="2074830" y="3707829"/>
            <a:ext cx="5136382" cy="346249"/>
          </a:xfrm>
          <a:prstGeom prst="rect">
            <a:avLst/>
          </a:prstGeom>
        </p:spPr>
        <p:txBody>
          <a:bodyPr wrap="square" lIns="0" tIns="0" rIns="0" bIns="0" rtlCol="0" anchor="t">
            <a:spAutoFit/>
          </a:bodyPr>
          <a:lstStyle/>
          <a:p>
            <a:pPr algn="just">
              <a:lnSpc>
                <a:spcPts val="2800"/>
              </a:lnSpc>
              <a:spcBef>
                <a:spcPct val="0"/>
              </a:spcBef>
            </a:pPr>
            <a:r>
              <a:rPr lang="en-US" sz="2000" dirty="0">
                <a:latin typeface="Garet"/>
                <a:ea typeface="Garet"/>
                <a:cs typeface="Garet"/>
                <a:sym typeface="Garet"/>
              </a:rPr>
              <a:t>Introduction et présentation du sujet</a:t>
            </a:r>
          </a:p>
        </p:txBody>
      </p:sp>
      <p:sp>
        <p:nvSpPr>
          <p:cNvPr id="24" name="TextBox 15">
            <a:extLst>
              <a:ext uri="{FF2B5EF4-FFF2-40B4-BE49-F238E27FC236}">
                <a16:creationId xmlns:a16="http://schemas.microsoft.com/office/drawing/2014/main" id="{1429A05C-A10B-EF12-E063-B8278C1878B6}"/>
              </a:ext>
            </a:extLst>
          </p:cNvPr>
          <p:cNvSpPr txBox="1"/>
          <p:nvPr/>
        </p:nvSpPr>
        <p:spPr>
          <a:xfrm>
            <a:off x="2074830" y="5189988"/>
            <a:ext cx="4173570" cy="346249"/>
          </a:xfrm>
          <a:prstGeom prst="rect">
            <a:avLst/>
          </a:prstGeom>
        </p:spPr>
        <p:txBody>
          <a:bodyPr wrap="square" lIns="0" tIns="0" rIns="0" bIns="0" rtlCol="0" anchor="t">
            <a:spAutoFit/>
          </a:bodyPr>
          <a:lstStyle/>
          <a:p>
            <a:pPr algn="just">
              <a:lnSpc>
                <a:spcPts val="2800"/>
              </a:lnSpc>
              <a:spcBef>
                <a:spcPct val="0"/>
              </a:spcBef>
            </a:pPr>
            <a:r>
              <a:rPr lang="en-US" sz="2000" dirty="0">
                <a:latin typeface="Garet"/>
                <a:ea typeface="Garet"/>
                <a:cs typeface="Garet"/>
                <a:sym typeface="Garet"/>
              </a:rPr>
              <a:t>Méthodologie et signification</a:t>
            </a:r>
          </a:p>
        </p:txBody>
      </p:sp>
      <p:sp>
        <p:nvSpPr>
          <p:cNvPr id="25" name="TextBox 16">
            <a:extLst>
              <a:ext uri="{FF2B5EF4-FFF2-40B4-BE49-F238E27FC236}">
                <a16:creationId xmlns:a16="http://schemas.microsoft.com/office/drawing/2014/main" id="{A0CBC186-1F33-55FB-78BB-E3E92345D38B}"/>
              </a:ext>
            </a:extLst>
          </p:cNvPr>
          <p:cNvSpPr txBox="1"/>
          <p:nvPr/>
        </p:nvSpPr>
        <p:spPr>
          <a:xfrm>
            <a:off x="2074830" y="6484536"/>
            <a:ext cx="3030570" cy="346249"/>
          </a:xfrm>
          <a:prstGeom prst="rect">
            <a:avLst/>
          </a:prstGeom>
        </p:spPr>
        <p:txBody>
          <a:bodyPr wrap="square" lIns="0" tIns="0" rIns="0" bIns="0" rtlCol="0" anchor="t">
            <a:spAutoFit/>
          </a:bodyPr>
          <a:lstStyle/>
          <a:p>
            <a:pPr algn="just">
              <a:lnSpc>
                <a:spcPts val="2800"/>
              </a:lnSpc>
              <a:spcBef>
                <a:spcPct val="0"/>
              </a:spcBef>
            </a:pPr>
            <a:r>
              <a:rPr lang="en-US" sz="2000" dirty="0">
                <a:latin typeface="Garet"/>
                <a:ea typeface="Garet"/>
                <a:cs typeface="Garet"/>
                <a:sym typeface="Garet"/>
              </a:rPr>
              <a:t>Ressources et budget</a:t>
            </a:r>
          </a:p>
        </p:txBody>
      </p:sp>
      <p:grpSp>
        <p:nvGrpSpPr>
          <p:cNvPr id="26" name="Group 8">
            <a:extLst>
              <a:ext uri="{FF2B5EF4-FFF2-40B4-BE49-F238E27FC236}">
                <a16:creationId xmlns:a16="http://schemas.microsoft.com/office/drawing/2014/main" id="{5536D00A-2C36-45F9-2173-D4EAAE9A06D6}"/>
              </a:ext>
            </a:extLst>
          </p:cNvPr>
          <p:cNvGrpSpPr/>
          <p:nvPr/>
        </p:nvGrpSpPr>
        <p:grpSpPr>
          <a:xfrm>
            <a:off x="1009416" y="7786849"/>
            <a:ext cx="642907" cy="642907"/>
            <a:chOff x="0" y="0"/>
            <a:chExt cx="812800" cy="812800"/>
          </a:xfrm>
        </p:grpSpPr>
        <p:sp>
          <p:nvSpPr>
            <p:cNvPr id="27" name="Freeform 9">
              <a:extLst>
                <a:ext uri="{FF2B5EF4-FFF2-40B4-BE49-F238E27FC236}">
                  <a16:creationId xmlns:a16="http://schemas.microsoft.com/office/drawing/2014/main" id="{1083BA91-C5E2-40EF-F8A5-029D70DEF50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28" name="TextBox 10">
              <a:extLst>
                <a:ext uri="{FF2B5EF4-FFF2-40B4-BE49-F238E27FC236}">
                  <a16:creationId xmlns:a16="http://schemas.microsoft.com/office/drawing/2014/main" id="{A5D0E0E7-A277-E217-DFFE-FB013E24578A}"/>
                </a:ext>
              </a:extLst>
            </p:cNvPr>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4</a:t>
              </a:r>
            </a:p>
          </p:txBody>
        </p:sp>
      </p:grpSp>
      <p:sp>
        <p:nvSpPr>
          <p:cNvPr id="29" name="TextBox 14">
            <a:extLst>
              <a:ext uri="{FF2B5EF4-FFF2-40B4-BE49-F238E27FC236}">
                <a16:creationId xmlns:a16="http://schemas.microsoft.com/office/drawing/2014/main" id="{EAB57BA7-0168-6174-7AC1-3898A05B8400}"/>
              </a:ext>
            </a:extLst>
          </p:cNvPr>
          <p:cNvSpPr txBox="1"/>
          <p:nvPr/>
        </p:nvSpPr>
        <p:spPr>
          <a:xfrm>
            <a:off x="2074830" y="7935177"/>
            <a:ext cx="4173570" cy="346249"/>
          </a:xfrm>
          <a:prstGeom prst="rect">
            <a:avLst/>
          </a:prstGeom>
        </p:spPr>
        <p:txBody>
          <a:bodyPr wrap="square" lIns="0" tIns="0" rIns="0" bIns="0" rtlCol="0" anchor="t">
            <a:spAutoFit/>
          </a:bodyPr>
          <a:lstStyle/>
          <a:p>
            <a:pPr algn="just">
              <a:lnSpc>
                <a:spcPts val="2800"/>
              </a:lnSpc>
              <a:spcBef>
                <a:spcPct val="0"/>
              </a:spcBef>
            </a:pPr>
            <a:r>
              <a:rPr lang="en-US" sz="2000" dirty="0">
                <a:latin typeface="Garet"/>
                <a:ea typeface="Garet"/>
                <a:cs typeface="Garet"/>
                <a:sym typeface="Garet"/>
              </a:rPr>
              <a:t>Analyse et choix techniques</a:t>
            </a:r>
          </a:p>
        </p:txBody>
      </p:sp>
      <p:grpSp>
        <p:nvGrpSpPr>
          <p:cNvPr id="30" name="Group 8">
            <a:extLst>
              <a:ext uri="{FF2B5EF4-FFF2-40B4-BE49-F238E27FC236}">
                <a16:creationId xmlns:a16="http://schemas.microsoft.com/office/drawing/2014/main" id="{E54D13A8-408D-7D9F-1576-4D5A0633DEEC}"/>
              </a:ext>
            </a:extLst>
          </p:cNvPr>
          <p:cNvGrpSpPr/>
          <p:nvPr/>
        </p:nvGrpSpPr>
        <p:grpSpPr>
          <a:xfrm>
            <a:off x="9448799" y="5047581"/>
            <a:ext cx="642907" cy="642907"/>
            <a:chOff x="0" y="0"/>
            <a:chExt cx="812800" cy="812800"/>
          </a:xfrm>
        </p:grpSpPr>
        <p:sp>
          <p:nvSpPr>
            <p:cNvPr id="31" name="Freeform 9">
              <a:extLst>
                <a:ext uri="{FF2B5EF4-FFF2-40B4-BE49-F238E27FC236}">
                  <a16:creationId xmlns:a16="http://schemas.microsoft.com/office/drawing/2014/main" id="{5431BD36-B158-4F60-73E8-AC2EE2E271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32" name="TextBox 10">
              <a:extLst>
                <a:ext uri="{FF2B5EF4-FFF2-40B4-BE49-F238E27FC236}">
                  <a16:creationId xmlns:a16="http://schemas.microsoft.com/office/drawing/2014/main" id="{AF921AF8-0FD9-8974-5E18-CC8591891AF1}"/>
                </a:ext>
              </a:extLst>
            </p:cNvPr>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6</a:t>
              </a:r>
            </a:p>
          </p:txBody>
        </p:sp>
      </p:grpSp>
      <p:grpSp>
        <p:nvGrpSpPr>
          <p:cNvPr id="33" name="Group 8">
            <a:extLst>
              <a:ext uri="{FF2B5EF4-FFF2-40B4-BE49-F238E27FC236}">
                <a16:creationId xmlns:a16="http://schemas.microsoft.com/office/drawing/2014/main" id="{A74BA6DC-A8FD-B730-2448-6063693E2D08}"/>
              </a:ext>
            </a:extLst>
          </p:cNvPr>
          <p:cNvGrpSpPr/>
          <p:nvPr/>
        </p:nvGrpSpPr>
        <p:grpSpPr>
          <a:xfrm>
            <a:off x="9448798" y="6317333"/>
            <a:ext cx="642907" cy="642907"/>
            <a:chOff x="0" y="0"/>
            <a:chExt cx="812800" cy="812800"/>
          </a:xfrm>
        </p:grpSpPr>
        <p:sp>
          <p:nvSpPr>
            <p:cNvPr id="34" name="Freeform 9">
              <a:extLst>
                <a:ext uri="{FF2B5EF4-FFF2-40B4-BE49-F238E27FC236}">
                  <a16:creationId xmlns:a16="http://schemas.microsoft.com/office/drawing/2014/main" id="{7EFD36FC-8650-2F64-880E-F8D9CBF940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35" name="TextBox 10">
              <a:extLst>
                <a:ext uri="{FF2B5EF4-FFF2-40B4-BE49-F238E27FC236}">
                  <a16:creationId xmlns:a16="http://schemas.microsoft.com/office/drawing/2014/main" id="{D41A00CC-083C-FF63-82F5-1833D40BEABC}"/>
                </a:ext>
              </a:extLst>
            </p:cNvPr>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7</a:t>
              </a:r>
            </a:p>
          </p:txBody>
        </p:sp>
      </p:grpSp>
      <p:grpSp>
        <p:nvGrpSpPr>
          <p:cNvPr id="36" name="Group 8">
            <a:extLst>
              <a:ext uri="{FF2B5EF4-FFF2-40B4-BE49-F238E27FC236}">
                <a16:creationId xmlns:a16="http://schemas.microsoft.com/office/drawing/2014/main" id="{0EA9E19F-F37D-37B7-0F5E-9DCD9E88E4BD}"/>
              </a:ext>
            </a:extLst>
          </p:cNvPr>
          <p:cNvGrpSpPr/>
          <p:nvPr/>
        </p:nvGrpSpPr>
        <p:grpSpPr>
          <a:xfrm>
            <a:off x="9448798" y="7789297"/>
            <a:ext cx="642907" cy="642907"/>
            <a:chOff x="0" y="0"/>
            <a:chExt cx="812800" cy="812800"/>
          </a:xfrm>
        </p:grpSpPr>
        <p:sp>
          <p:nvSpPr>
            <p:cNvPr id="37" name="Freeform 9">
              <a:extLst>
                <a:ext uri="{FF2B5EF4-FFF2-40B4-BE49-F238E27FC236}">
                  <a16:creationId xmlns:a16="http://schemas.microsoft.com/office/drawing/2014/main" id="{410854D0-416F-278B-399A-52E6A65CF5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38" name="TextBox 10">
              <a:extLst>
                <a:ext uri="{FF2B5EF4-FFF2-40B4-BE49-F238E27FC236}">
                  <a16:creationId xmlns:a16="http://schemas.microsoft.com/office/drawing/2014/main" id="{74B0F493-F9F2-C9B9-CB38-47E2E0A0422B}"/>
                </a:ext>
              </a:extLst>
            </p:cNvPr>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8</a:t>
              </a:r>
            </a:p>
          </p:txBody>
        </p:sp>
      </p:grpSp>
      <p:sp>
        <p:nvSpPr>
          <p:cNvPr id="39" name="TextBox 14">
            <a:extLst>
              <a:ext uri="{FF2B5EF4-FFF2-40B4-BE49-F238E27FC236}">
                <a16:creationId xmlns:a16="http://schemas.microsoft.com/office/drawing/2014/main" id="{383AB45C-BD40-2AA8-C028-AC60AF2DBCC7}"/>
              </a:ext>
            </a:extLst>
          </p:cNvPr>
          <p:cNvSpPr txBox="1"/>
          <p:nvPr/>
        </p:nvSpPr>
        <p:spPr>
          <a:xfrm>
            <a:off x="10515600" y="3761734"/>
            <a:ext cx="7069170" cy="346249"/>
          </a:xfrm>
          <a:prstGeom prst="rect">
            <a:avLst/>
          </a:prstGeom>
        </p:spPr>
        <p:txBody>
          <a:bodyPr lIns="0" tIns="0" rIns="0" bIns="0" rtlCol="0" anchor="t">
            <a:spAutoFit/>
          </a:bodyPr>
          <a:lstStyle/>
          <a:p>
            <a:pPr algn="just">
              <a:lnSpc>
                <a:spcPts val="2800"/>
              </a:lnSpc>
              <a:spcBef>
                <a:spcPct val="0"/>
              </a:spcBef>
            </a:pPr>
            <a:r>
              <a:rPr lang="en-US" sz="2000" dirty="0">
                <a:latin typeface="Garet"/>
                <a:ea typeface="Garet"/>
                <a:cs typeface="Garet"/>
                <a:sym typeface="Garet"/>
              </a:rPr>
              <a:t>Modélisations</a:t>
            </a:r>
          </a:p>
        </p:txBody>
      </p:sp>
      <p:sp>
        <p:nvSpPr>
          <p:cNvPr id="40" name="TextBox 14">
            <a:extLst>
              <a:ext uri="{FF2B5EF4-FFF2-40B4-BE49-F238E27FC236}">
                <a16:creationId xmlns:a16="http://schemas.microsoft.com/office/drawing/2014/main" id="{BFB34F7F-ECED-A432-056E-735B673D46E5}"/>
              </a:ext>
            </a:extLst>
          </p:cNvPr>
          <p:cNvSpPr txBox="1"/>
          <p:nvPr/>
        </p:nvSpPr>
        <p:spPr>
          <a:xfrm>
            <a:off x="10515600" y="5189987"/>
            <a:ext cx="7069170" cy="346249"/>
          </a:xfrm>
          <a:prstGeom prst="rect">
            <a:avLst/>
          </a:prstGeom>
        </p:spPr>
        <p:txBody>
          <a:bodyPr lIns="0" tIns="0" rIns="0" bIns="0" rtlCol="0" anchor="t">
            <a:spAutoFit/>
          </a:bodyPr>
          <a:lstStyle/>
          <a:p>
            <a:pPr algn="just">
              <a:lnSpc>
                <a:spcPts val="2800"/>
              </a:lnSpc>
              <a:spcBef>
                <a:spcPct val="0"/>
              </a:spcBef>
            </a:pPr>
            <a:r>
              <a:rPr lang="en-US" sz="2000" dirty="0">
                <a:latin typeface="Garet"/>
                <a:ea typeface="Garet"/>
                <a:cs typeface="Garet"/>
                <a:sym typeface="Garet"/>
              </a:rPr>
              <a:t>Documentation</a:t>
            </a:r>
          </a:p>
        </p:txBody>
      </p:sp>
      <p:sp>
        <p:nvSpPr>
          <p:cNvPr id="41" name="TextBox 14">
            <a:extLst>
              <a:ext uri="{FF2B5EF4-FFF2-40B4-BE49-F238E27FC236}">
                <a16:creationId xmlns:a16="http://schemas.microsoft.com/office/drawing/2014/main" id="{41708142-E2F2-D8D8-4E21-F6E8C643B361}"/>
              </a:ext>
            </a:extLst>
          </p:cNvPr>
          <p:cNvSpPr txBox="1"/>
          <p:nvPr/>
        </p:nvSpPr>
        <p:spPr>
          <a:xfrm>
            <a:off x="10515600" y="6484536"/>
            <a:ext cx="7069170" cy="346249"/>
          </a:xfrm>
          <a:prstGeom prst="rect">
            <a:avLst/>
          </a:prstGeom>
        </p:spPr>
        <p:txBody>
          <a:bodyPr lIns="0" tIns="0" rIns="0" bIns="0" rtlCol="0" anchor="t">
            <a:spAutoFit/>
          </a:bodyPr>
          <a:lstStyle/>
          <a:p>
            <a:pPr algn="just">
              <a:lnSpc>
                <a:spcPts val="2800"/>
              </a:lnSpc>
              <a:spcBef>
                <a:spcPct val="0"/>
              </a:spcBef>
            </a:pPr>
            <a:r>
              <a:rPr lang="en-US" sz="2000" dirty="0">
                <a:latin typeface="Garet"/>
                <a:ea typeface="Garet"/>
                <a:cs typeface="Garet"/>
                <a:sym typeface="Garet"/>
              </a:rPr>
              <a:t>Demonstration</a:t>
            </a:r>
          </a:p>
        </p:txBody>
      </p:sp>
      <p:sp>
        <p:nvSpPr>
          <p:cNvPr id="42" name="TextBox 14">
            <a:extLst>
              <a:ext uri="{FF2B5EF4-FFF2-40B4-BE49-F238E27FC236}">
                <a16:creationId xmlns:a16="http://schemas.microsoft.com/office/drawing/2014/main" id="{3BFFB185-ADC8-BCA0-285E-3BEC0C64C936}"/>
              </a:ext>
            </a:extLst>
          </p:cNvPr>
          <p:cNvSpPr txBox="1"/>
          <p:nvPr/>
        </p:nvSpPr>
        <p:spPr>
          <a:xfrm>
            <a:off x="10515600" y="7937625"/>
            <a:ext cx="7069170" cy="346249"/>
          </a:xfrm>
          <a:prstGeom prst="rect">
            <a:avLst/>
          </a:prstGeom>
        </p:spPr>
        <p:txBody>
          <a:bodyPr lIns="0" tIns="0" rIns="0" bIns="0" rtlCol="0" anchor="t">
            <a:spAutoFit/>
          </a:bodyPr>
          <a:lstStyle/>
          <a:p>
            <a:pPr algn="just">
              <a:lnSpc>
                <a:spcPts val="2800"/>
              </a:lnSpc>
              <a:spcBef>
                <a:spcPct val="0"/>
              </a:spcBef>
            </a:pPr>
            <a:r>
              <a:rPr lang="en-US" sz="2000" dirty="0">
                <a:latin typeface="Garet"/>
                <a:ea typeface="Garet"/>
                <a:cs typeface="Garet"/>
                <a:sym typeface="Garet"/>
              </a:rPr>
              <a:t>Conclusion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grpSp>
        <p:nvGrpSpPr>
          <p:cNvPr id="2" name="Group 2"/>
          <p:cNvGrpSpPr/>
          <p:nvPr/>
        </p:nvGrpSpPr>
        <p:grpSpPr>
          <a:xfrm>
            <a:off x="1028731" y="2745726"/>
            <a:ext cx="642907" cy="64290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1</a:t>
              </a:r>
            </a:p>
          </p:txBody>
        </p:sp>
      </p:grpSp>
      <p:grpSp>
        <p:nvGrpSpPr>
          <p:cNvPr id="5" name="Group 5"/>
          <p:cNvGrpSpPr/>
          <p:nvPr/>
        </p:nvGrpSpPr>
        <p:grpSpPr>
          <a:xfrm>
            <a:off x="1028731" y="5613884"/>
            <a:ext cx="642907" cy="64290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2</a:t>
              </a:r>
            </a:p>
          </p:txBody>
        </p:sp>
      </p:grpSp>
      <p:grpSp>
        <p:nvGrpSpPr>
          <p:cNvPr id="8" name="Group 8"/>
          <p:cNvGrpSpPr/>
          <p:nvPr/>
        </p:nvGrpSpPr>
        <p:grpSpPr>
          <a:xfrm>
            <a:off x="10763250" y="2524473"/>
            <a:ext cx="5699511" cy="5699511"/>
            <a:chOff x="0" y="0"/>
            <a:chExt cx="3282950" cy="3282950"/>
          </a:xfrm>
        </p:grpSpPr>
        <p:sp>
          <p:nvSpPr>
            <p:cNvPr id="9" name="Freeform 9"/>
            <p:cNvSpPr/>
            <p:nvPr/>
          </p:nvSpPr>
          <p:spPr>
            <a:xfrm>
              <a:off x="0" y="0"/>
              <a:ext cx="3282950" cy="3282950"/>
            </a:xfrm>
            <a:custGeom>
              <a:avLst/>
              <a:gdLst/>
              <a:ahLst/>
              <a:cxnLst/>
              <a:rect l="l" t="t" r="r" b="b"/>
              <a:pathLst>
                <a:path w="3282950" h="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2"/>
              <a:stretch>
                <a:fillRect l="-36393" r="-36393"/>
              </a:stretch>
            </a:blipFill>
          </p:spPr>
          <p:txBody>
            <a:bodyPr/>
            <a:lstStyle/>
            <a:p>
              <a:endParaRPr lang="fr-FR" noProof="0" dirty="0"/>
            </a:p>
          </p:txBody>
        </p:sp>
      </p:grpSp>
      <p:sp>
        <p:nvSpPr>
          <p:cNvPr id="10" name="TextBox 10"/>
          <p:cNvSpPr txBox="1"/>
          <p:nvPr/>
        </p:nvSpPr>
        <p:spPr>
          <a:xfrm>
            <a:off x="2094144" y="2707626"/>
            <a:ext cx="7069170" cy="339725"/>
          </a:xfrm>
          <a:prstGeom prst="rect">
            <a:avLst/>
          </a:prstGeom>
        </p:spPr>
        <p:txBody>
          <a:bodyPr lIns="0" tIns="0" rIns="0" bIns="0" rtlCol="0" anchor="t">
            <a:spAutoFit/>
          </a:bodyPr>
          <a:lstStyle/>
          <a:p>
            <a:pPr algn="just">
              <a:lnSpc>
                <a:spcPts val="2800"/>
              </a:lnSpc>
              <a:spcBef>
                <a:spcPct val="0"/>
              </a:spcBef>
            </a:pPr>
            <a:r>
              <a:rPr lang="fr-FR" sz="2000" noProof="0" dirty="0">
                <a:solidFill>
                  <a:srgbClr val="EE3F1E"/>
                </a:solidFill>
                <a:latin typeface="Garet"/>
                <a:ea typeface="Garet"/>
                <a:cs typeface="Garet"/>
                <a:sym typeface="Garet"/>
              </a:rPr>
              <a:t>CONTEXTE</a:t>
            </a:r>
          </a:p>
        </p:txBody>
      </p:sp>
      <p:sp>
        <p:nvSpPr>
          <p:cNvPr id="11" name="TextBox 11"/>
          <p:cNvSpPr txBox="1"/>
          <p:nvPr/>
        </p:nvSpPr>
        <p:spPr>
          <a:xfrm>
            <a:off x="2010197" y="5746426"/>
            <a:ext cx="7069170" cy="339725"/>
          </a:xfrm>
          <a:prstGeom prst="rect">
            <a:avLst/>
          </a:prstGeom>
        </p:spPr>
        <p:txBody>
          <a:bodyPr lIns="0" tIns="0" rIns="0" bIns="0" rtlCol="0" anchor="t">
            <a:spAutoFit/>
          </a:bodyPr>
          <a:lstStyle/>
          <a:p>
            <a:pPr algn="just">
              <a:lnSpc>
                <a:spcPts val="2800"/>
              </a:lnSpc>
              <a:spcBef>
                <a:spcPct val="0"/>
              </a:spcBef>
            </a:pPr>
            <a:r>
              <a:rPr lang="fr-FR" sz="2000" noProof="0" dirty="0">
                <a:solidFill>
                  <a:srgbClr val="EE3F1E"/>
                </a:solidFill>
                <a:latin typeface="Garet"/>
                <a:ea typeface="Garet"/>
                <a:cs typeface="Garet"/>
                <a:sym typeface="Garet"/>
              </a:rPr>
              <a:t>PROBLEMATIQUE</a:t>
            </a:r>
          </a:p>
        </p:txBody>
      </p:sp>
      <p:sp>
        <p:nvSpPr>
          <p:cNvPr id="12" name="TextBox 12"/>
          <p:cNvSpPr txBox="1"/>
          <p:nvPr/>
        </p:nvSpPr>
        <p:spPr>
          <a:xfrm>
            <a:off x="1028700" y="1399526"/>
            <a:ext cx="4516083" cy="1250950"/>
          </a:xfrm>
          <a:prstGeom prst="rect">
            <a:avLst/>
          </a:prstGeom>
        </p:spPr>
        <p:txBody>
          <a:bodyPr lIns="0" tIns="0" rIns="0" bIns="0" rtlCol="0" anchor="t">
            <a:spAutoFit/>
          </a:bodyPr>
          <a:lstStyle/>
          <a:p>
            <a:pPr algn="l">
              <a:lnSpc>
                <a:spcPts val="9799"/>
              </a:lnSpc>
            </a:pPr>
            <a:r>
              <a:rPr lang="fr-FR" sz="6999" b="1" noProof="0" dirty="0">
                <a:solidFill>
                  <a:srgbClr val="EE3F1E"/>
                </a:solidFill>
                <a:latin typeface="Poppins Bold"/>
                <a:ea typeface="Poppins Bold"/>
                <a:cs typeface="Poppins Bold"/>
                <a:sym typeface="Poppins Bold"/>
              </a:rPr>
              <a:t>SUJET</a:t>
            </a:r>
          </a:p>
        </p:txBody>
      </p:sp>
      <p:sp>
        <p:nvSpPr>
          <p:cNvPr id="13" name="AutoShape 13"/>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15" name="TextBox 15"/>
          <p:cNvSpPr txBox="1"/>
          <p:nvPr/>
        </p:nvSpPr>
        <p:spPr>
          <a:xfrm>
            <a:off x="2094144" y="3114026"/>
            <a:ext cx="7069170" cy="2221865"/>
          </a:xfrm>
          <a:prstGeom prst="rect">
            <a:avLst/>
          </a:prstGeom>
        </p:spPr>
        <p:txBody>
          <a:bodyPr lIns="0" tIns="0" rIns="0" bIns="0" rtlCol="0" anchor="t">
            <a:spAutoFit/>
          </a:bodyPr>
          <a:lstStyle/>
          <a:p>
            <a:pPr algn="just">
              <a:lnSpc>
                <a:spcPts val="1960"/>
              </a:lnSpc>
            </a:pPr>
            <a:r>
              <a:rPr lang="fr-FR" sz="1400" noProof="0" dirty="0">
                <a:solidFill>
                  <a:srgbClr val="000000"/>
                </a:solidFill>
                <a:latin typeface="Garet"/>
                <a:ea typeface="Garet"/>
                <a:cs typeface="Garet"/>
                <a:sym typeface="Garet"/>
              </a:rPr>
              <a:t>Les entrepôts gèrent des opérations complexes : réception, stockage, inventaire et expédition des produits.</a:t>
            </a:r>
          </a:p>
          <a:p>
            <a:pPr algn="just">
              <a:lnSpc>
                <a:spcPts val="1960"/>
              </a:lnSpc>
            </a:pPr>
            <a:r>
              <a:rPr lang="fr-FR" sz="1400" noProof="0" dirty="0">
                <a:solidFill>
                  <a:srgbClr val="000000"/>
                </a:solidFill>
                <a:latin typeface="Garet"/>
                <a:ea typeface="Garet"/>
                <a:cs typeface="Garet"/>
                <a:sym typeface="Garet"/>
              </a:rPr>
              <a:t>Une mauvaise gestion entraîne des erreurs de stock, retards de livraison, mauvaise utilisation de l'espace et pertes financières.</a:t>
            </a:r>
          </a:p>
          <a:p>
            <a:pPr algn="just">
              <a:lnSpc>
                <a:spcPts val="1960"/>
              </a:lnSpc>
            </a:pPr>
            <a:r>
              <a:rPr lang="fr-FR" sz="1400" noProof="0" dirty="0">
                <a:solidFill>
                  <a:srgbClr val="000000"/>
                </a:solidFill>
                <a:latin typeface="Garet"/>
                <a:ea typeface="Garet"/>
                <a:cs typeface="Garet"/>
                <a:sym typeface="Garet"/>
              </a:rPr>
              <a:t>Un Système de Gestion d'Entrepôt (SGE) permet d'automatiser ces processus, d'assurer un suivi en temps réel des stocks et d'améliorer les performances logistiques.</a:t>
            </a:r>
          </a:p>
          <a:p>
            <a:pPr algn="just">
              <a:lnSpc>
                <a:spcPts val="1960"/>
              </a:lnSpc>
              <a:spcBef>
                <a:spcPct val="0"/>
              </a:spcBef>
            </a:pPr>
            <a:r>
              <a:rPr lang="fr-FR" sz="1400" noProof="0" dirty="0">
                <a:solidFill>
                  <a:srgbClr val="000000"/>
                </a:solidFill>
                <a:latin typeface="Garet"/>
                <a:ea typeface="Garet"/>
                <a:cs typeface="Garet"/>
                <a:sym typeface="Garet"/>
              </a:rPr>
              <a:t>Ce projet consiste à concevoir et développer un prototype de SGE en appliquant les méthodes et technologies étudiées durant l'année.</a:t>
            </a:r>
          </a:p>
        </p:txBody>
      </p:sp>
      <p:sp>
        <p:nvSpPr>
          <p:cNvPr id="16" name="TextBox 16"/>
          <p:cNvSpPr txBox="1"/>
          <p:nvPr/>
        </p:nvSpPr>
        <p:spPr>
          <a:xfrm>
            <a:off x="2094144" y="6152826"/>
            <a:ext cx="7069170" cy="735965"/>
          </a:xfrm>
          <a:prstGeom prst="rect">
            <a:avLst/>
          </a:prstGeom>
        </p:spPr>
        <p:txBody>
          <a:bodyPr lIns="0" tIns="0" rIns="0" bIns="0" rtlCol="0" anchor="t">
            <a:spAutoFit/>
          </a:bodyPr>
          <a:lstStyle/>
          <a:p>
            <a:pPr algn="just">
              <a:lnSpc>
                <a:spcPts val="1960"/>
              </a:lnSpc>
              <a:spcBef>
                <a:spcPct val="0"/>
              </a:spcBef>
            </a:pPr>
            <a:r>
              <a:rPr lang="fr-FR" sz="1400" noProof="0" dirty="0">
                <a:solidFill>
                  <a:srgbClr val="000000"/>
                </a:solidFill>
                <a:latin typeface="Garet"/>
                <a:ea typeface="Garet"/>
                <a:cs typeface="Garet"/>
                <a:sym typeface="Garet"/>
              </a:rPr>
              <a:t>Comment concevoir un système de gestion d'entrepôt permettant d'assurer un suivi fiable des stocks, d'optimiser les opérations logistiques et de réduire les erreurs liées à une gestion manuelle ?</a:t>
            </a:r>
          </a:p>
        </p:txBody>
      </p:sp>
      <p:sp>
        <p:nvSpPr>
          <p:cNvPr id="19" name="Slide Number Placeholder 18">
            <a:extLst>
              <a:ext uri="{FF2B5EF4-FFF2-40B4-BE49-F238E27FC236}">
                <a16:creationId xmlns:a16="http://schemas.microsoft.com/office/drawing/2014/main" id="{F7C06DE8-432B-9873-CA67-22D024FE0B59}"/>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grpSp>
        <p:nvGrpSpPr>
          <p:cNvPr id="2" name="Group 2"/>
          <p:cNvGrpSpPr/>
          <p:nvPr/>
        </p:nvGrpSpPr>
        <p:grpSpPr>
          <a:xfrm>
            <a:off x="1028731" y="2745726"/>
            <a:ext cx="642907" cy="64290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3</a:t>
              </a:r>
            </a:p>
          </p:txBody>
        </p:sp>
      </p:grpSp>
      <p:grpSp>
        <p:nvGrpSpPr>
          <p:cNvPr id="5" name="Group 5"/>
          <p:cNvGrpSpPr/>
          <p:nvPr/>
        </p:nvGrpSpPr>
        <p:grpSpPr>
          <a:xfrm>
            <a:off x="1028700" y="5206507"/>
            <a:ext cx="642907" cy="64290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4</a:t>
              </a:r>
            </a:p>
          </p:txBody>
        </p:sp>
      </p:grpSp>
      <p:grpSp>
        <p:nvGrpSpPr>
          <p:cNvPr id="8" name="Group 8"/>
          <p:cNvGrpSpPr/>
          <p:nvPr/>
        </p:nvGrpSpPr>
        <p:grpSpPr>
          <a:xfrm>
            <a:off x="10763250" y="2524473"/>
            <a:ext cx="5699511" cy="5699511"/>
            <a:chOff x="0" y="0"/>
            <a:chExt cx="3282950" cy="3282950"/>
          </a:xfrm>
        </p:grpSpPr>
        <p:sp>
          <p:nvSpPr>
            <p:cNvPr id="9" name="Freeform 9"/>
            <p:cNvSpPr/>
            <p:nvPr/>
          </p:nvSpPr>
          <p:spPr>
            <a:xfrm>
              <a:off x="0" y="0"/>
              <a:ext cx="3282950" cy="3282950"/>
            </a:xfrm>
            <a:custGeom>
              <a:avLst/>
              <a:gdLst/>
              <a:ahLst/>
              <a:cxnLst/>
              <a:rect l="l" t="t" r="r" b="b"/>
              <a:pathLst>
                <a:path w="3282950" h="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2"/>
              <a:stretch>
                <a:fillRect l="-36393" r="-36393"/>
              </a:stretch>
            </a:blipFill>
          </p:spPr>
          <p:txBody>
            <a:bodyPr/>
            <a:lstStyle/>
            <a:p>
              <a:endParaRPr lang="fr-FR" noProof="0" dirty="0"/>
            </a:p>
          </p:txBody>
        </p:sp>
      </p:grpSp>
      <p:sp>
        <p:nvSpPr>
          <p:cNvPr id="10" name="TextBox 10"/>
          <p:cNvSpPr txBox="1"/>
          <p:nvPr/>
        </p:nvSpPr>
        <p:spPr>
          <a:xfrm>
            <a:off x="2094144" y="2707626"/>
            <a:ext cx="7069170" cy="339725"/>
          </a:xfrm>
          <a:prstGeom prst="rect">
            <a:avLst/>
          </a:prstGeom>
        </p:spPr>
        <p:txBody>
          <a:bodyPr lIns="0" tIns="0" rIns="0" bIns="0" rtlCol="0" anchor="t">
            <a:spAutoFit/>
          </a:bodyPr>
          <a:lstStyle/>
          <a:p>
            <a:pPr algn="just">
              <a:lnSpc>
                <a:spcPts val="2800"/>
              </a:lnSpc>
              <a:spcBef>
                <a:spcPct val="0"/>
              </a:spcBef>
            </a:pPr>
            <a:r>
              <a:rPr lang="fr-FR" sz="2000" noProof="0" dirty="0">
                <a:solidFill>
                  <a:srgbClr val="EE3F1E"/>
                </a:solidFill>
                <a:latin typeface="Garet"/>
                <a:ea typeface="Garet"/>
                <a:cs typeface="Garet"/>
                <a:sym typeface="Garet"/>
              </a:rPr>
              <a:t>OBJECTIFS</a:t>
            </a:r>
          </a:p>
        </p:txBody>
      </p:sp>
      <p:sp>
        <p:nvSpPr>
          <p:cNvPr id="11" name="TextBox 11"/>
          <p:cNvSpPr txBox="1"/>
          <p:nvPr/>
        </p:nvSpPr>
        <p:spPr>
          <a:xfrm>
            <a:off x="2074799" y="5188236"/>
            <a:ext cx="7069170" cy="339725"/>
          </a:xfrm>
          <a:prstGeom prst="rect">
            <a:avLst/>
          </a:prstGeom>
        </p:spPr>
        <p:txBody>
          <a:bodyPr lIns="0" tIns="0" rIns="0" bIns="0" rtlCol="0" anchor="t">
            <a:spAutoFit/>
          </a:bodyPr>
          <a:lstStyle/>
          <a:p>
            <a:pPr algn="just">
              <a:lnSpc>
                <a:spcPts val="2800"/>
              </a:lnSpc>
              <a:spcBef>
                <a:spcPct val="0"/>
              </a:spcBef>
            </a:pPr>
            <a:r>
              <a:rPr lang="fr-FR" sz="2000" noProof="0" dirty="0">
                <a:solidFill>
                  <a:srgbClr val="EE3F1E"/>
                </a:solidFill>
                <a:latin typeface="Garet"/>
                <a:ea typeface="Garet"/>
                <a:cs typeface="Garet"/>
                <a:sym typeface="Garet"/>
              </a:rPr>
              <a:t>ENJEUX</a:t>
            </a:r>
          </a:p>
        </p:txBody>
      </p:sp>
      <p:sp>
        <p:nvSpPr>
          <p:cNvPr id="12" name="TextBox 12"/>
          <p:cNvSpPr txBox="1"/>
          <p:nvPr/>
        </p:nvSpPr>
        <p:spPr>
          <a:xfrm>
            <a:off x="1028700" y="1399526"/>
            <a:ext cx="4516083" cy="1250950"/>
          </a:xfrm>
          <a:prstGeom prst="rect">
            <a:avLst/>
          </a:prstGeom>
        </p:spPr>
        <p:txBody>
          <a:bodyPr lIns="0" tIns="0" rIns="0" bIns="0" rtlCol="0" anchor="t">
            <a:spAutoFit/>
          </a:bodyPr>
          <a:lstStyle/>
          <a:p>
            <a:pPr algn="l">
              <a:lnSpc>
                <a:spcPts val="9799"/>
              </a:lnSpc>
            </a:pPr>
            <a:r>
              <a:rPr lang="fr-FR" sz="6999" b="1" noProof="0" dirty="0">
                <a:solidFill>
                  <a:srgbClr val="EE3F1E"/>
                </a:solidFill>
                <a:latin typeface="Poppins Bold"/>
                <a:ea typeface="Poppins Bold"/>
                <a:cs typeface="Poppins Bold"/>
                <a:sym typeface="Poppins Bold"/>
              </a:rPr>
              <a:t>SUJET</a:t>
            </a:r>
          </a:p>
        </p:txBody>
      </p:sp>
      <p:sp>
        <p:nvSpPr>
          <p:cNvPr id="13" name="AutoShape 13"/>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grpSp>
        <p:nvGrpSpPr>
          <p:cNvPr id="14" name="Group 14"/>
          <p:cNvGrpSpPr/>
          <p:nvPr/>
        </p:nvGrpSpPr>
        <p:grpSpPr>
          <a:xfrm>
            <a:off x="1028731" y="7297215"/>
            <a:ext cx="642907" cy="6429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3F1E"/>
            </a:solidFill>
          </p:spPr>
          <p:txBody>
            <a:bodyPr/>
            <a:lstStyle/>
            <a:p>
              <a:endParaRPr lang="fr-FR" noProof="0" dirty="0"/>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800"/>
                </a:lnSpc>
              </a:pPr>
              <a:r>
                <a:rPr lang="fr-FR" sz="2000" noProof="0" dirty="0">
                  <a:solidFill>
                    <a:srgbClr val="222222"/>
                  </a:solidFill>
                  <a:latin typeface="Garet"/>
                  <a:ea typeface="Garet"/>
                  <a:cs typeface="Garet"/>
                  <a:sym typeface="Garet"/>
                </a:rPr>
                <a:t>5</a:t>
              </a:r>
            </a:p>
          </p:txBody>
        </p:sp>
      </p:grpSp>
      <p:sp>
        <p:nvSpPr>
          <p:cNvPr id="17" name="TextBox 17"/>
          <p:cNvSpPr txBox="1"/>
          <p:nvPr/>
        </p:nvSpPr>
        <p:spPr>
          <a:xfrm>
            <a:off x="2094174" y="7429756"/>
            <a:ext cx="7069170" cy="339725"/>
          </a:xfrm>
          <a:prstGeom prst="rect">
            <a:avLst/>
          </a:prstGeom>
        </p:spPr>
        <p:txBody>
          <a:bodyPr lIns="0" tIns="0" rIns="0" bIns="0" rtlCol="0" anchor="t">
            <a:spAutoFit/>
          </a:bodyPr>
          <a:lstStyle/>
          <a:p>
            <a:pPr algn="just">
              <a:lnSpc>
                <a:spcPts val="2800"/>
              </a:lnSpc>
              <a:spcBef>
                <a:spcPct val="0"/>
              </a:spcBef>
            </a:pPr>
            <a:r>
              <a:rPr lang="fr-FR" sz="2000" noProof="0" dirty="0">
                <a:solidFill>
                  <a:srgbClr val="EE3F1E"/>
                </a:solidFill>
                <a:latin typeface="Garet"/>
                <a:ea typeface="Garet"/>
                <a:cs typeface="Garet"/>
                <a:sym typeface="Garet"/>
              </a:rPr>
              <a:t>CONTRAINTES</a:t>
            </a:r>
          </a:p>
        </p:txBody>
      </p:sp>
      <p:sp>
        <p:nvSpPr>
          <p:cNvPr id="18" name="TextBox 18"/>
          <p:cNvSpPr txBox="1"/>
          <p:nvPr/>
        </p:nvSpPr>
        <p:spPr>
          <a:xfrm>
            <a:off x="2094144" y="3114026"/>
            <a:ext cx="7069170" cy="1726565"/>
          </a:xfrm>
          <a:prstGeom prst="rect">
            <a:avLst/>
          </a:prstGeom>
        </p:spPr>
        <p:txBody>
          <a:bodyPr lIns="0" tIns="0" rIns="0" bIns="0" rtlCol="0" anchor="t">
            <a:spAutoFit/>
          </a:bodyPr>
          <a:lstStyle/>
          <a:p>
            <a:pPr algn="just">
              <a:lnSpc>
                <a:spcPts val="1960"/>
              </a:lnSpc>
            </a:pPr>
            <a:r>
              <a:rPr lang="fr-FR" sz="1400" noProof="0" dirty="0">
                <a:solidFill>
                  <a:srgbClr val="000000"/>
                </a:solidFill>
                <a:latin typeface="Garet"/>
                <a:ea typeface="Garet"/>
                <a:cs typeface="Garet"/>
                <a:sym typeface="Garet"/>
              </a:rPr>
              <a:t>Analyser et spécifier les besoins.</a:t>
            </a:r>
          </a:p>
          <a:p>
            <a:pPr algn="just">
              <a:lnSpc>
                <a:spcPts val="1960"/>
              </a:lnSpc>
            </a:pPr>
            <a:r>
              <a:rPr lang="fr-FR" sz="1400" noProof="0" dirty="0">
                <a:solidFill>
                  <a:srgbClr val="000000"/>
                </a:solidFill>
                <a:latin typeface="Garet"/>
                <a:ea typeface="Garet"/>
                <a:cs typeface="Garet"/>
                <a:sym typeface="Garet"/>
              </a:rPr>
              <a:t>Concevoir et développer les trois composantes du système (Base de données, Application graphique et CLI).</a:t>
            </a:r>
          </a:p>
          <a:p>
            <a:pPr algn="just">
              <a:lnSpc>
                <a:spcPts val="1960"/>
              </a:lnSpc>
            </a:pPr>
            <a:r>
              <a:rPr lang="fr-FR" sz="1400" noProof="0" dirty="0">
                <a:solidFill>
                  <a:srgbClr val="000000"/>
                </a:solidFill>
                <a:latin typeface="Garet"/>
                <a:ea typeface="Garet"/>
                <a:cs typeface="Garet"/>
                <a:sym typeface="Garet"/>
              </a:rPr>
              <a:t>Vérifier et valider le bon fonctionnement du prototype.</a:t>
            </a:r>
          </a:p>
          <a:p>
            <a:pPr algn="just">
              <a:lnSpc>
                <a:spcPts val="1960"/>
              </a:lnSpc>
            </a:pPr>
            <a:r>
              <a:rPr lang="fr-FR" sz="1400" noProof="0" dirty="0">
                <a:solidFill>
                  <a:srgbClr val="000000"/>
                </a:solidFill>
                <a:latin typeface="Garet"/>
                <a:ea typeface="Garet"/>
                <a:cs typeface="Garet"/>
                <a:sym typeface="Garet"/>
              </a:rPr>
              <a:t>Évaluer les technologies utilisées.</a:t>
            </a:r>
          </a:p>
          <a:p>
            <a:pPr algn="just">
              <a:lnSpc>
                <a:spcPts val="1960"/>
              </a:lnSpc>
              <a:spcBef>
                <a:spcPct val="0"/>
              </a:spcBef>
            </a:pPr>
            <a:r>
              <a:rPr lang="fr-FR" sz="1400" noProof="0" dirty="0">
                <a:solidFill>
                  <a:srgbClr val="000000"/>
                </a:solidFill>
                <a:latin typeface="Garet"/>
                <a:ea typeface="Garet"/>
                <a:cs typeface="Garet"/>
                <a:sym typeface="Garet"/>
              </a:rPr>
              <a:t>Présenter un prototype fonctionnel répondant aux besoins de gestion d'un entrepôt.</a:t>
            </a:r>
          </a:p>
        </p:txBody>
      </p:sp>
      <p:sp>
        <p:nvSpPr>
          <p:cNvPr id="19" name="TextBox 19"/>
          <p:cNvSpPr txBox="1"/>
          <p:nvPr/>
        </p:nvSpPr>
        <p:spPr>
          <a:xfrm>
            <a:off x="2094174" y="5570650"/>
            <a:ext cx="7069170" cy="1478915"/>
          </a:xfrm>
          <a:prstGeom prst="rect">
            <a:avLst/>
          </a:prstGeom>
        </p:spPr>
        <p:txBody>
          <a:bodyPr lIns="0" tIns="0" rIns="0" bIns="0" rtlCol="0" anchor="t">
            <a:spAutoFit/>
          </a:bodyPr>
          <a:lstStyle/>
          <a:p>
            <a:pPr algn="just">
              <a:lnSpc>
                <a:spcPts val="1960"/>
              </a:lnSpc>
            </a:pPr>
            <a:r>
              <a:rPr lang="fr-FR" sz="1400" noProof="0" dirty="0">
                <a:solidFill>
                  <a:srgbClr val="000000"/>
                </a:solidFill>
                <a:latin typeface="Garet"/>
                <a:ea typeface="Garet"/>
                <a:cs typeface="Garet"/>
                <a:sym typeface="Garet"/>
              </a:rPr>
              <a:t>Améliorer la fiabilité des stocks.</a:t>
            </a:r>
          </a:p>
          <a:p>
            <a:pPr algn="just">
              <a:lnSpc>
                <a:spcPts val="1960"/>
              </a:lnSpc>
            </a:pPr>
            <a:r>
              <a:rPr lang="fr-FR" sz="1400" noProof="0" dirty="0">
                <a:solidFill>
                  <a:srgbClr val="000000"/>
                </a:solidFill>
                <a:latin typeface="Garet"/>
                <a:ea typeface="Garet"/>
                <a:cs typeface="Garet"/>
                <a:sym typeface="Garet"/>
              </a:rPr>
              <a:t>Optimiser les opérations logistiques.</a:t>
            </a:r>
          </a:p>
          <a:p>
            <a:pPr algn="just">
              <a:lnSpc>
                <a:spcPts val="1960"/>
              </a:lnSpc>
            </a:pPr>
            <a:r>
              <a:rPr lang="fr-FR" sz="1400" noProof="0" dirty="0">
                <a:solidFill>
                  <a:srgbClr val="000000"/>
                </a:solidFill>
                <a:latin typeface="Garet"/>
                <a:ea typeface="Garet"/>
                <a:cs typeface="Garet"/>
                <a:sym typeface="Garet"/>
              </a:rPr>
              <a:t>Garantir la traçabilité des produits.</a:t>
            </a:r>
          </a:p>
          <a:p>
            <a:pPr algn="just">
              <a:lnSpc>
                <a:spcPts val="1960"/>
              </a:lnSpc>
            </a:pPr>
            <a:r>
              <a:rPr lang="fr-FR" sz="1400" noProof="0" dirty="0">
                <a:solidFill>
                  <a:srgbClr val="000000"/>
                </a:solidFill>
                <a:latin typeface="Garet"/>
                <a:ea typeface="Garet"/>
                <a:cs typeface="Garet"/>
                <a:sym typeface="Garet"/>
              </a:rPr>
              <a:t>Réduire les erreurs et les coûts.</a:t>
            </a:r>
          </a:p>
          <a:p>
            <a:pPr algn="just">
              <a:lnSpc>
                <a:spcPts val="1960"/>
              </a:lnSpc>
            </a:pPr>
            <a:r>
              <a:rPr lang="fr-FR" sz="1400" noProof="0" dirty="0">
                <a:solidFill>
                  <a:srgbClr val="000000"/>
                </a:solidFill>
                <a:latin typeface="Garet"/>
                <a:ea typeface="Garet"/>
                <a:cs typeface="Garet"/>
                <a:sym typeface="Garet"/>
              </a:rPr>
              <a:t>Aider les gestionnaires à prendre des décisions grâce à des données fiables.</a:t>
            </a:r>
          </a:p>
          <a:p>
            <a:pPr algn="just">
              <a:lnSpc>
                <a:spcPts val="1960"/>
              </a:lnSpc>
              <a:spcBef>
                <a:spcPct val="0"/>
              </a:spcBef>
            </a:pPr>
            <a:r>
              <a:rPr lang="fr-FR" sz="1400" noProof="0" dirty="0">
                <a:solidFill>
                  <a:srgbClr val="000000"/>
                </a:solidFill>
                <a:latin typeface="Garet"/>
                <a:ea typeface="Garet"/>
                <a:cs typeface="Garet"/>
                <a:sym typeface="Garet"/>
              </a:rPr>
              <a:t>enjeux</a:t>
            </a:r>
          </a:p>
        </p:txBody>
      </p:sp>
      <p:sp>
        <p:nvSpPr>
          <p:cNvPr id="20" name="TextBox 20"/>
          <p:cNvSpPr txBox="1"/>
          <p:nvPr/>
        </p:nvSpPr>
        <p:spPr>
          <a:xfrm>
            <a:off x="2094174" y="7841715"/>
            <a:ext cx="7069170" cy="735965"/>
          </a:xfrm>
          <a:prstGeom prst="rect">
            <a:avLst/>
          </a:prstGeom>
        </p:spPr>
        <p:txBody>
          <a:bodyPr lIns="0" tIns="0" rIns="0" bIns="0" rtlCol="0" anchor="t">
            <a:spAutoFit/>
          </a:bodyPr>
          <a:lstStyle/>
          <a:p>
            <a:pPr algn="just">
              <a:lnSpc>
                <a:spcPts val="1960"/>
              </a:lnSpc>
            </a:pPr>
            <a:r>
              <a:rPr lang="fr-FR" sz="1400" noProof="0" dirty="0">
                <a:solidFill>
                  <a:srgbClr val="000000"/>
                </a:solidFill>
                <a:latin typeface="Garet"/>
                <a:ea typeface="Garet"/>
                <a:cs typeface="Garet"/>
                <a:sym typeface="Garet"/>
              </a:rPr>
              <a:t>Le prototype est limité à la gestion des stocks, du stockage, de la planification des opérations et de la production de rapports.</a:t>
            </a:r>
          </a:p>
          <a:p>
            <a:pPr algn="just">
              <a:lnSpc>
                <a:spcPts val="1960"/>
              </a:lnSpc>
              <a:spcBef>
                <a:spcPct val="0"/>
              </a:spcBef>
            </a:pPr>
            <a:r>
              <a:rPr lang="fr-FR" sz="1400" noProof="0" dirty="0">
                <a:solidFill>
                  <a:srgbClr val="000000"/>
                </a:solidFill>
                <a:latin typeface="Garet"/>
                <a:ea typeface="Garet"/>
                <a:cs typeface="Garet"/>
                <a:sym typeface="Garet"/>
              </a:rPr>
              <a:t>contraintes</a:t>
            </a:r>
          </a:p>
        </p:txBody>
      </p:sp>
      <p:sp>
        <p:nvSpPr>
          <p:cNvPr id="23" name="Slide Number Placeholder 22">
            <a:extLst>
              <a:ext uri="{FF2B5EF4-FFF2-40B4-BE49-F238E27FC236}">
                <a16:creationId xmlns:a16="http://schemas.microsoft.com/office/drawing/2014/main" id="{50E3D031-F2AD-D97B-55C8-9D5EC9092357}"/>
              </a:ext>
            </a:extLst>
          </p:cNvPr>
          <p:cNvSpPr>
            <a:spLocks noGrp="1"/>
          </p:cNvSpPr>
          <p:nvPr>
            <p:ph type="sldNum" sz="quarter" idx="12"/>
          </p:nvPr>
        </p:nvSpPr>
        <p:spPr>
          <a:xfrm>
            <a:off x="15697200" y="9486900"/>
            <a:ext cx="2133600" cy="365125"/>
          </a:xfrm>
        </p:spPr>
        <p:txBody>
          <a:bodyPr/>
          <a:lstStyle/>
          <a:p>
            <a:fld id="{B6F15528-21DE-4FAA-801E-634DDDAF4B2B}"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4" name="TextBox 4"/>
          <p:cNvSpPr txBox="1"/>
          <p:nvPr/>
        </p:nvSpPr>
        <p:spPr>
          <a:xfrm>
            <a:off x="4824964" y="838200"/>
            <a:ext cx="8983134" cy="1250950"/>
          </a:xfrm>
          <a:prstGeom prst="rect">
            <a:avLst/>
          </a:prstGeom>
        </p:spPr>
        <p:txBody>
          <a:bodyPr lIns="0" tIns="0" rIns="0" bIns="0" rtlCol="0" anchor="t">
            <a:spAutoFit/>
          </a:bodyPr>
          <a:lstStyle/>
          <a:p>
            <a:pPr algn="ctr">
              <a:lnSpc>
                <a:spcPts val="9799"/>
              </a:lnSpc>
            </a:pPr>
            <a:r>
              <a:rPr lang="fr-FR" sz="6999" b="1" noProof="0" dirty="0">
                <a:solidFill>
                  <a:srgbClr val="EE3F1E"/>
                </a:solidFill>
                <a:latin typeface="Poppins Bold"/>
                <a:ea typeface="Poppins Bold"/>
                <a:cs typeface="Poppins Bold"/>
                <a:sym typeface="Poppins Bold"/>
              </a:rPr>
              <a:t>NOTRE METHODE</a:t>
            </a:r>
          </a:p>
        </p:txBody>
      </p:sp>
      <p:sp>
        <p:nvSpPr>
          <p:cNvPr id="5" name="TextBox 5"/>
          <p:cNvSpPr txBox="1"/>
          <p:nvPr/>
        </p:nvSpPr>
        <p:spPr>
          <a:xfrm>
            <a:off x="793344" y="2637301"/>
            <a:ext cx="16431320" cy="4655121"/>
          </a:xfrm>
          <a:prstGeom prst="rect">
            <a:avLst/>
          </a:prstGeom>
        </p:spPr>
        <p:txBody>
          <a:bodyPr lIns="0" tIns="0" rIns="0" bIns="0" rtlCol="0" anchor="t">
            <a:spAutoFit/>
          </a:bodyPr>
          <a:lstStyle/>
          <a:p>
            <a:pPr>
              <a:lnSpc>
                <a:spcPts val="2800"/>
              </a:lnSpc>
            </a:pPr>
            <a:r>
              <a:rPr lang="fr-FR" sz="2000" u="sng" noProof="0" dirty="0">
                <a:solidFill>
                  <a:schemeClr val="accent6">
                    <a:lumMod val="75000"/>
                  </a:schemeClr>
                </a:solidFill>
                <a:latin typeface="Garet"/>
                <a:ea typeface="Garet"/>
                <a:cs typeface="Garet"/>
                <a:sym typeface="Garet"/>
              </a:rPr>
              <a:t>Méthodologie adoptée : </a:t>
            </a:r>
            <a:r>
              <a:rPr lang="fr-FR" sz="2000" noProof="0" dirty="0">
                <a:solidFill>
                  <a:srgbClr val="000000"/>
                </a:solidFill>
                <a:latin typeface="Garet"/>
                <a:ea typeface="Garet"/>
                <a:cs typeface="Garet"/>
                <a:sym typeface="Garet"/>
              </a:rPr>
              <a:t>Approche itérative et incrémentale</a:t>
            </a:r>
          </a:p>
          <a:p>
            <a:pPr>
              <a:lnSpc>
                <a:spcPts val="2800"/>
              </a:lnSpc>
            </a:pPr>
            <a:endParaRPr lang="fr-FR" sz="2000" noProof="0" dirty="0">
              <a:solidFill>
                <a:srgbClr val="000000"/>
              </a:solidFill>
              <a:latin typeface="Garet"/>
              <a:ea typeface="Garet"/>
              <a:cs typeface="Garet"/>
              <a:sym typeface="Garet"/>
            </a:endParaRPr>
          </a:p>
          <a:p>
            <a:pPr>
              <a:lnSpc>
                <a:spcPts val="2800"/>
              </a:lnSpc>
            </a:pPr>
            <a:r>
              <a:rPr lang="fr-FR" sz="2000" noProof="0" dirty="0">
                <a:solidFill>
                  <a:srgbClr val="000000"/>
                </a:solidFill>
                <a:latin typeface="Garet"/>
                <a:ea typeface="Garet"/>
                <a:cs typeface="Garet"/>
                <a:sym typeface="Garet"/>
              </a:rPr>
              <a:t>Le projet a été réalisé par itérations successives, chaque phase produisant un résultat exploitable avant de passer à la suivante.</a:t>
            </a:r>
          </a:p>
          <a:p>
            <a:pPr>
              <a:lnSpc>
                <a:spcPts val="2800"/>
              </a:lnSpc>
            </a:pPr>
            <a:r>
              <a:rPr lang="fr-FR" sz="2000" noProof="0" dirty="0">
                <a:solidFill>
                  <a:srgbClr val="000000"/>
                </a:solidFill>
                <a:latin typeface="Garet"/>
                <a:ea typeface="Garet"/>
                <a:cs typeface="Garet"/>
                <a:sym typeface="Garet"/>
              </a:rPr>
              <a:t>-  Analyse des besoins</a:t>
            </a:r>
          </a:p>
          <a:p>
            <a:pPr>
              <a:lnSpc>
                <a:spcPts val="2800"/>
              </a:lnSpc>
            </a:pPr>
            <a:endParaRPr lang="fr-FR" sz="2000" noProof="0" dirty="0">
              <a:solidFill>
                <a:srgbClr val="000000"/>
              </a:solidFill>
              <a:latin typeface="Garet"/>
              <a:ea typeface="Garet"/>
              <a:cs typeface="Garet"/>
              <a:sym typeface="Garet"/>
            </a:endParaRPr>
          </a:p>
          <a:p>
            <a:pPr>
              <a:lnSpc>
                <a:spcPts val="2800"/>
              </a:lnSpc>
            </a:pPr>
            <a:r>
              <a:rPr lang="fr-FR" sz="2000" noProof="0" dirty="0">
                <a:solidFill>
                  <a:srgbClr val="000000"/>
                </a:solidFill>
                <a:latin typeface="Garet"/>
                <a:ea typeface="Garet"/>
                <a:cs typeface="Garet"/>
                <a:sym typeface="Garet"/>
              </a:rPr>
              <a:t> - Conception (Merise &amp; UML)</a:t>
            </a:r>
          </a:p>
          <a:p>
            <a:pPr>
              <a:lnSpc>
                <a:spcPts val="2800"/>
              </a:lnSpc>
            </a:pPr>
            <a:endParaRPr lang="fr-FR" sz="2000" noProof="0" dirty="0">
              <a:solidFill>
                <a:srgbClr val="000000"/>
              </a:solidFill>
              <a:latin typeface="Garet"/>
              <a:ea typeface="Garet"/>
              <a:cs typeface="Garet"/>
              <a:sym typeface="Garet"/>
            </a:endParaRPr>
          </a:p>
          <a:p>
            <a:pPr>
              <a:lnSpc>
                <a:spcPts val="2800"/>
              </a:lnSpc>
            </a:pPr>
            <a:r>
              <a:rPr lang="fr-FR" sz="2000" noProof="0" dirty="0">
                <a:solidFill>
                  <a:srgbClr val="000000"/>
                </a:solidFill>
                <a:latin typeface="Garet"/>
                <a:ea typeface="Garet"/>
                <a:cs typeface="Garet"/>
                <a:sym typeface="Garet"/>
              </a:rPr>
              <a:t>-  Développement (BD, GUI, CLI)</a:t>
            </a:r>
          </a:p>
          <a:p>
            <a:pPr>
              <a:lnSpc>
                <a:spcPts val="2800"/>
              </a:lnSpc>
            </a:pPr>
            <a:endParaRPr lang="fr-FR" sz="2000" noProof="0" dirty="0">
              <a:solidFill>
                <a:srgbClr val="000000"/>
              </a:solidFill>
              <a:latin typeface="Garet"/>
              <a:ea typeface="Garet"/>
              <a:cs typeface="Garet"/>
              <a:sym typeface="Garet"/>
            </a:endParaRPr>
          </a:p>
          <a:p>
            <a:pPr>
              <a:lnSpc>
                <a:spcPts val="2800"/>
              </a:lnSpc>
            </a:pPr>
            <a:r>
              <a:rPr lang="fr-FR" sz="2000" noProof="0" dirty="0">
                <a:solidFill>
                  <a:srgbClr val="000000"/>
                </a:solidFill>
                <a:latin typeface="Garet"/>
                <a:ea typeface="Garet"/>
                <a:cs typeface="Garet"/>
                <a:sym typeface="Garet"/>
              </a:rPr>
              <a:t>- Tests et validation</a:t>
            </a:r>
          </a:p>
          <a:p>
            <a:pPr>
              <a:lnSpc>
                <a:spcPts val="2800"/>
              </a:lnSpc>
            </a:pPr>
            <a:endParaRPr lang="fr-FR" sz="2000" noProof="0" dirty="0">
              <a:solidFill>
                <a:srgbClr val="000000"/>
              </a:solidFill>
              <a:latin typeface="Garet"/>
              <a:ea typeface="Garet"/>
              <a:cs typeface="Garet"/>
              <a:sym typeface="Garet"/>
            </a:endParaRPr>
          </a:p>
          <a:p>
            <a:pPr>
              <a:lnSpc>
                <a:spcPts val="2800"/>
              </a:lnSpc>
              <a:spcBef>
                <a:spcPct val="0"/>
              </a:spcBef>
            </a:pPr>
            <a:r>
              <a:rPr lang="fr-FR" sz="2000" noProof="0" dirty="0">
                <a:solidFill>
                  <a:srgbClr val="000000"/>
                </a:solidFill>
                <a:latin typeface="Garet"/>
                <a:ea typeface="Garet"/>
                <a:cs typeface="Garet"/>
                <a:sym typeface="Garet"/>
              </a:rPr>
              <a:t>- Documentation</a:t>
            </a:r>
          </a:p>
        </p:txBody>
      </p:sp>
      <p:sp>
        <p:nvSpPr>
          <p:cNvPr id="8" name="Slide Number Placeholder 7">
            <a:extLst>
              <a:ext uri="{FF2B5EF4-FFF2-40B4-BE49-F238E27FC236}">
                <a16:creationId xmlns:a16="http://schemas.microsoft.com/office/drawing/2014/main" id="{CD399DDC-9F20-59EA-F1B3-1D64A1965C65}"/>
              </a:ext>
            </a:extLst>
          </p:cNvPr>
          <p:cNvSpPr>
            <a:spLocks noGrp="1"/>
          </p:cNvSpPr>
          <p:nvPr>
            <p:ph type="sldNum" sz="quarter" idx="12"/>
          </p:nvPr>
        </p:nvSpPr>
        <p:spPr>
          <a:xfrm>
            <a:off x="15849600" y="9639300"/>
            <a:ext cx="2133600" cy="365125"/>
          </a:xfrm>
        </p:spPr>
        <p:txBody>
          <a:bodyPr/>
          <a:lstStyle/>
          <a:p>
            <a:fld id="{B6F15528-21DE-4FAA-801E-634DDDAF4B2B}"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TextBox 3"/>
          <p:cNvSpPr txBox="1"/>
          <p:nvPr/>
        </p:nvSpPr>
        <p:spPr>
          <a:xfrm>
            <a:off x="4824964" y="838200"/>
            <a:ext cx="8983134" cy="1250950"/>
          </a:xfrm>
          <a:prstGeom prst="rect">
            <a:avLst/>
          </a:prstGeom>
        </p:spPr>
        <p:txBody>
          <a:bodyPr lIns="0" tIns="0" rIns="0" bIns="0" rtlCol="0" anchor="t">
            <a:spAutoFit/>
          </a:bodyPr>
          <a:lstStyle/>
          <a:p>
            <a:pPr algn="ctr">
              <a:lnSpc>
                <a:spcPts val="9799"/>
              </a:lnSpc>
            </a:pPr>
            <a:r>
              <a:rPr lang="fr-FR" sz="6999" b="1" noProof="0" dirty="0">
                <a:solidFill>
                  <a:srgbClr val="EE3F1E"/>
                </a:solidFill>
                <a:latin typeface="Poppins Bold"/>
                <a:ea typeface="Poppins Bold"/>
                <a:cs typeface="Poppins Bold"/>
                <a:sym typeface="Poppins Bold"/>
              </a:rPr>
              <a:t>ANALYSE SWOT</a:t>
            </a:r>
          </a:p>
        </p:txBody>
      </p:sp>
      <p:sp>
        <p:nvSpPr>
          <p:cNvPr id="4" name="TextBox 4"/>
          <p:cNvSpPr txBox="1"/>
          <p:nvPr/>
        </p:nvSpPr>
        <p:spPr>
          <a:xfrm>
            <a:off x="9537238" y="2548885"/>
            <a:ext cx="6098782" cy="3936975"/>
          </a:xfrm>
          <a:prstGeom prst="rect">
            <a:avLst/>
          </a:prstGeom>
        </p:spPr>
        <p:txBody>
          <a:bodyPr lIns="0" tIns="0" rIns="0" bIns="0" rtlCol="0" anchor="t">
            <a:spAutoFit/>
          </a:bodyPr>
          <a:lstStyle/>
          <a:p>
            <a:pPr algn="l">
              <a:lnSpc>
                <a:spcPts val="2800"/>
              </a:lnSpc>
              <a:spcBef>
                <a:spcPct val="0"/>
              </a:spcBef>
            </a:pPr>
            <a:r>
              <a:rPr lang="fr-FR" sz="2000" noProof="0" dirty="0">
                <a:solidFill>
                  <a:schemeClr val="accent6">
                    <a:lumMod val="75000"/>
                  </a:schemeClr>
                </a:solidFill>
                <a:latin typeface="Garet"/>
                <a:ea typeface="Garet"/>
                <a:cs typeface="Garet"/>
                <a:sym typeface="Garet"/>
              </a:rPr>
              <a:t>Opportunités</a:t>
            </a:r>
            <a:endParaRPr lang="fr-FR" sz="2000" noProof="0" dirty="0">
              <a:solidFill>
                <a:srgbClr val="000000"/>
              </a:solidFill>
              <a:latin typeface="Garet"/>
              <a:ea typeface="Garet"/>
              <a:cs typeface="Garet"/>
              <a:sym typeface="Garet"/>
            </a:endParaRPr>
          </a:p>
          <a:p>
            <a:pPr algn="l">
              <a:lnSpc>
                <a:spcPts val="2800"/>
              </a:lnSpc>
              <a:spcBef>
                <a:spcPct val="0"/>
              </a:spcBef>
            </a:pPr>
            <a:r>
              <a:rPr lang="fr-FR" sz="2000" noProof="0" dirty="0">
                <a:solidFill>
                  <a:srgbClr val="000000"/>
                </a:solidFill>
                <a:latin typeface="Garet"/>
                <a:ea typeface="Garet"/>
                <a:cs typeface="Garet"/>
                <a:sym typeface="Garet"/>
              </a:rPr>
              <a:t>Évolution vers une solution industrielle.</a:t>
            </a:r>
          </a:p>
          <a:p>
            <a:pPr algn="l">
              <a:lnSpc>
                <a:spcPts val="2800"/>
              </a:lnSpc>
              <a:spcBef>
                <a:spcPct val="0"/>
              </a:spcBef>
            </a:pPr>
            <a:r>
              <a:rPr lang="fr-FR" sz="2000" noProof="0" dirty="0">
                <a:solidFill>
                  <a:srgbClr val="000000"/>
                </a:solidFill>
                <a:latin typeface="Garet"/>
                <a:ea typeface="Garet"/>
                <a:cs typeface="Garet"/>
                <a:sym typeface="Garet"/>
              </a:rPr>
              <a:t>Intégration avec ERP.</a:t>
            </a:r>
          </a:p>
          <a:p>
            <a:pPr algn="l">
              <a:lnSpc>
                <a:spcPts val="2800"/>
              </a:lnSpc>
              <a:spcBef>
                <a:spcPct val="0"/>
              </a:spcBef>
            </a:pPr>
            <a:r>
              <a:rPr lang="fr-FR" sz="2000" noProof="0" dirty="0">
                <a:solidFill>
                  <a:srgbClr val="000000"/>
                </a:solidFill>
                <a:latin typeface="Garet"/>
                <a:ea typeface="Garet"/>
                <a:cs typeface="Garet"/>
                <a:sym typeface="Garet"/>
              </a:rPr>
              <a:t>Version Web/Mobile.</a:t>
            </a:r>
          </a:p>
          <a:p>
            <a:pPr algn="l">
              <a:lnSpc>
                <a:spcPts val="2800"/>
              </a:lnSpc>
              <a:spcBef>
                <a:spcPct val="0"/>
              </a:spcBef>
            </a:pPr>
            <a:r>
              <a:rPr lang="fr-FR" sz="2000" noProof="0" dirty="0">
                <a:solidFill>
                  <a:srgbClr val="000000"/>
                </a:solidFill>
                <a:latin typeface="Garet"/>
                <a:ea typeface="Garet"/>
                <a:cs typeface="Garet"/>
                <a:sym typeface="Garet"/>
              </a:rPr>
              <a:t>Intégration de l'IA et de la RFID.</a:t>
            </a:r>
          </a:p>
          <a:p>
            <a:pPr algn="l">
              <a:lnSpc>
                <a:spcPts val="2800"/>
              </a:lnSpc>
              <a:spcBef>
                <a:spcPct val="0"/>
              </a:spcBef>
            </a:pPr>
            <a:endParaRPr lang="fr-FR" sz="2000" noProof="0" dirty="0">
              <a:solidFill>
                <a:srgbClr val="000000"/>
              </a:solidFill>
              <a:latin typeface="Garet"/>
              <a:ea typeface="Garet"/>
              <a:cs typeface="Garet"/>
              <a:sym typeface="Garet"/>
            </a:endParaRPr>
          </a:p>
          <a:p>
            <a:pPr algn="l">
              <a:lnSpc>
                <a:spcPts val="2800"/>
              </a:lnSpc>
              <a:spcBef>
                <a:spcPct val="0"/>
              </a:spcBef>
            </a:pPr>
            <a:r>
              <a:rPr lang="fr-FR" sz="2000" noProof="0" dirty="0">
                <a:solidFill>
                  <a:schemeClr val="accent6">
                    <a:lumMod val="75000"/>
                  </a:schemeClr>
                </a:solidFill>
                <a:latin typeface="Garet"/>
                <a:ea typeface="Garet"/>
                <a:cs typeface="Garet"/>
                <a:sym typeface="Garet"/>
              </a:rPr>
              <a:t>Menaces</a:t>
            </a:r>
            <a:endParaRPr lang="fr-FR" sz="2000" noProof="0" dirty="0">
              <a:solidFill>
                <a:srgbClr val="000000"/>
              </a:solidFill>
              <a:latin typeface="Garet"/>
              <a:ea typeface="Garet"/>
              <a:cs typeface="Garet"/>
              <a:sym typeface="Garet"/>
            </a:endParaRPr>
          </a:p>
          <a:p>
            <a:pPr algn="l">
              <a:lnSpc>
                <a:spcPts val="2800"/>
              </a:lnSpc>
              <a:spcBef>
                <a:spcPct val="0"/>
              </a:spcBef>
            </a:pPr>
            <a:r>
              <a:rPr lang="fr-FR" sz="2000" noProof="0" dirty="0">
                <a:solidFill>
                  <a:srgbClr val="000000"/>
                </a:solidFill>
                <a:latin typeface="Garet"/>
                <a:ea typeface="Garet"/>
                <a:cs typeface="Garet"/>
                <a:sym typeface="Garet"/>
              </a:rPr>
              <a:t>Évolution des exigences.</a:t>
            </a:r>
          </a:p>
          <a:p>
            <a:pPr algn="l">
              <a:lnSpc>
                <a:spcPts val="2800"/>
              </a:lnSpc>
              <a:spcBef>
                <a:spcPct val="0"/>
              </a:spcBef>
            </a:pPr>
            <a:r>
              <a:rPr lang="fr-FR" sz="2000" noProof="0" dirty="0">
                <a:solidFill>
                  <a:srgbClr val="000000"/>
                </a:solidFill>
                <a:latin typeface="Garet"/>
                <a:ea typeface="Garet"/>
                <a:cs typeface="Garet"/>
                <a:sym typeface="Garet"/>
              </a:rPr>
              <a:t>Risques de sécurité.</a:t>
            </a:r>
          </a:p>
          <a:p>
            <a:pPr algn="l">
              <a:lnSpc>
                <a:spcPts val="2800"/>
              </a:lnSpc>
              <a:spcBef>
                <a:spcPct val="0"/>
              </a:spcBef>
            </a:pPr>
            <a:r>
              <a:rPr lang="fr-FR" sz="2000" noProof="0" dirty="0">
                <a:solidFill>
                  <a:srgbClr val="000000"/>
                </a:solidFill>
                <a:latin typeface="Garet"/>
                <a:ea typeface="Garet"/>
                <a:cs typeface="Garet"/>
                <a:sym typeface="Garet"/>
              </a:rPr>
              <a:t>Défaillances techniques.</a:t>
            </a:r>
          </a:p>
          <a:p>
            <a:pPr algn="l">
              <a:lnSpc>
                <a:spcPts val="2800"/>
              </a:lnSpc>
              <a:spcBef>
                <a:spcPct val="0"/>
              </a:spcBef>
            </a:pPr>
            <a:r>
              <a:rPr lang="fr-FR" sz="2000" noProof="0" dirty="0">
                <a:solidFill>
                  <a:srgbClr val="000000"/>
                </a:solidFill>
                <a:latin typeface="Garet"/>
                <a:ea typeface="Garet"/>
                <a:cs typeface="Garet"/>
                <a:sym typeface="Garet"/>
              </a:rPr>
              <a:t>Concurrence des solutions existantes.</a:t>
            </a:r>
          </a:p>
        </p:txBody>
      </p:sp>
      <p:sp>
        <p:nvSpPr>
          <p:cNvPr id="5" name="TextBox 5"/>
          <p:cNvSpPr txBox="1"/>
          <p:nvPr/>
        </p:nvSpPr>
        <p:spPr>
          <a:xfrm>
            <a:off x="3217338" y="2548885"/>
            <a:ext cx="5236766" cy="4296048"/>
          </a:xfrm>
          <a:prstGeom prst="rect">
            <a:avLst/>
          </a:prstGeom>
        </p:spPr>
        <p:txBody>
          <a:bodyPr lIns="0" tIns="0" rIns="0" bIns="0" rtlCol="0" anchor="t">
            <a:spAutoFit/>
          </a:bodyPr>
          <a:lstStyle/>
          <a:p>
            <a:pPr algn="l">
              <a:lnSpc>
                <a:spcPts val="2800"/>
              </a:lnSpc>
              <a:spcBef>
                <a:spcPct val="0"/>
              </a:spcBef>
            </a:pPr>
            <a:r>
              <a:rPr lang="fr-FR" sz="2000" noProof="0" dirty="0">
                <a:solidFill>
                  <a:schemeClr val="accent6">
                    <a:lumMod val="75000"/>
                  </a:schemeClr>
                </a:solidFill>
                <a:latin typeface="Garet"/>
                <a:ea typeface="Garet"/>
                <a:cs typeface="Garet"/>
                <a:sym typeface="Garet"/>
              </a:rPr>
              <a:t>Forces</a:t>
            </a:r>
          </a:p>
          <a:p>
            <a:pPr algn="l">
              <a:lnSpc>
                <a:spcPts val="2800"/>
              </a:lnSpc>
              <a:spcBef>
                <a:spcPct val="0"/>
              </a:spcBef>
            </a:pPr>
            <a:r>
              <a:rPr lang="fr-FR" sz="2000" noProof="0" dirty="0">
                <a:solidFill>
                  <a:srgbClr val="000000"/>
                </a:solidFill>
                <a:latin typeface="Garet"/>
                <a:ea typeface="Garet"/>
                <a:cs typeface="Garet"/>
                <a:sym typeface="Garet"/>
              </a:rPr>
              <a:t>Architecture modulaire.</a:t>
            </a:r>
          </a:p>
          <a:p>
            <a:pPr algn="l">
              <a:lnSpc>
                <a:spcPts val="2800"/>
              </a:lnSpc>
              <a:spcBef>
                <a:spcPct val="0"/>
              </a:spcBef>
            </a:pPr>
            <a:r>
              <a:rPr lang="fr-FR" sz="2000" noProof="0" dirty="0">
                <a:solidFill>
                  <a:srgbClr val="000000"/>
                </a:solidFill>
                <a:latin typeface="Garet"/>
                <a:ea typeface="Garet"/>
                <a:cs typeface="Garet"/>
                <a:sym typeface="Garet"/>
              </a:rPr>
              <a:t>Suivi des stocks en temps réel.</a:t>
            </a:r>
          </a:p>
          <a:p>
            <a:pPr algn="l">
              <a:lnSpc>
                <a:spcPts val="2800"/>
              </a:lnSpc>
              <a:spcBef>
                <a:spcPct val="0"/>
              </a:spcBef>
            </a:pPr>
            <a:r>
              <a:rPr lang="fr-FR" sz="2000" noProof="0" dirty="0">
                <a:solidFill>
                  <a:srgbClr val="000000"/>
                </a:solidFill>
                <a:latin typeface="Garet"/>
                <a:ea typeface="Garet"/>
                <a:cs typeface="Garet"/>
                <a:sym typeface="Garet"/>
              </a:rPr>
              <a:t>Interface intuitive.</a:t>
            </a:r>
          </a:p>
          <a:p>
            <a:pPr algn="l">
              <a:lnSpc>
                <a:spcPts val="2800"/>
              </a:lnSpc>
              <a:spcBef>
                <a:spcPct val="0"/>
              </a:spcBef>
            </a:pPr>
            <a:r>
              <a:rPr lang="fr-FR" sz="2000" noProof="0" dirty="0">
                <a:solidFill>
                  <a:srgbClr val="000000"/>
                </a:solidFill>
                <a:latin typeface="Garet"/>
                <a:ea typeface="Garet"/>
                <a:cs typeface="Garet"/>
                <a:sym typeface="Garet"/>
              </a:rPr>
              <a:t>Traçabilité complète.</a:t>
            </a:r>
          </a:p>
          <a:p>
            <a:pPr algn="l">
              <a:lnSpc>
                <a:spcPts val="2800"/>
              </a:lnSpc>
              <a:spcBef>
                <a:spcPct val="0"/>
              </a:spcBef>
            </a:pPr>
            <a:endParaRPr lang="fr-FR" sz="2000" noProof="0" dirty="0">
              <a:solidFill>
                <a:srgbClr val="000000"/>
              </a:solidFill>
              <a:latin typeface="Garet"/>
              <a:ea typeface="Garet"/>
              <a:cs typeface="Garet"/>
              <a:sym typeface="Garet"/>
            </a:endParaRPr>
          </a:p>
          <a:p>
            <a:pPr algn="l">
              <a:lnSpc>
                <a:spcPts val="2800"/>
              </a:lnSpc>
              <a:spcBef>
                <a:spcPct val="0"/>
              </a:spcBef>
            </a:pPr>
            <a:r>
              <a:rPr lang="fr-FR" sz="2000" noProof="0" dirty="0">
                <a:solidFill>
                  <a:schemeClr val="accent6">
                    <a:lumMod val="75000"/>
                  </a:schemeClr>
                </a:solidFill>
                <a:latin typeface="Garet"/>
                <a:ea typeface="Garet"/>
                <a:cs typeface="Garet"/>
                <a:sym typeface="Garet"/>
              </a:rPr>
              <a:t>Faiblesses</a:t>
            </a:r>
          </a:p>
          <a:p>
            <a:pPr algn="l">
              <a:lnSpc>
                <a:spcPts val="2800"/>
              </a:lnSpc>
              <a:spcBef>
                <a:spcPct val="0"/>
              </a:spcBef>
            </a:pPr>
            <a:r>
              <a:rPr lang="fr-FR" sz="2000" noProof="0" dirty="0">
                <a:solidFill>
                  <a:srgbClr val="000000"/>
                </a:solidFill>
                <a:latin typeface="Garet"/>
                <a:ea typeface="Garet"/>
                <a:cs typeface="Garet"/>
                <a:sym typeface="Garet"/>
              </a:rPr>
              <a:t>Prototype académique.</a:t>
            </a:r>
          </a:p>
          <a:p>
            <a:pPr algn="l">
              <a:lnSpc>
                <a:spcPts val="2800"/>
              </a:lnSpc>
              <a:spcBef>
                <a:spcPct val="0"/>
              </a:spcBef>
            </a:pPr>
            <a:r>
              <a:rPr lang="fr-FR" sz="2000" noProof="0" dirty="0">
                <a:solidFill>
                  <a:srgbClr val="000000"/>
                </a:solidFill>
                <a:latin typeface="Garet"/>
                <a:ea typeface="Garet"/>
                <a:cs typeface="Garet"/>
                <a:sym typeface="Garet"/>
              </a:rPr>
              <a:t>Déploiement local.</a:t>
            </a:r>
          </a:p>
          <a:p>
            <a:pPr algn="l">
              <a:lnSpc>
                <a:spcPts val="2800"/>
              </a:lnSpc>
              <a:spcBef>
                <a:spcPct val="0"/>
              </a:spcBef>
            </a:pPr>
            <a:r>
              <a:rPr lang="fr-FR" sz="2000" noProof="0" dirty="0">
                <a:solidFill>
                  <a:srgbClr val="000000"/>
                </a:solidFill>
                <a:latin typeface="Garet"/>
                <a:ea typeface="Garet"/>
                <a:cs typeface="Garet"/>
                <a:sym typeface="Garet"/>
              </a:rPr>
              <a:t>Fonctionnalités limitées.</a:t>
            </a:r>
          </a:p>
          <a:p>
            <a:pPr algn="l">
              <a:lnSpc>
                <a:spcPts val="2800"/>
              </a:lnSpc>
              <a:spcBef>
                <a:spcPct val="0"/>
              </a:spcBef>
            </a:pPr>
            <a:r>
              <a:rPr lang="fr-FR" sz="2000" noProof="0" dirty="0">
                <a:solidFill>
                  <a:srgbClr val="000000"/>
                </a:solidFill>
                <a:latin typeface="Garet"/>
                <a:ea typeface="Garet"/>
                <a:cs typeface="Garet"/>
                <a:sym typeface="Garet"/>
              </a:rPr>
              <a:t>Dépendance aux technologies retenues.</a:t>
            </a:r>
          </a:p>
        </p:txBody>
      </p:sp>
      <p:sp>
        <p:nvSpPr>
          <p:cNvPr id="8" name="Slide Number Placeholder 7">
            <a:extLst>
              <a:ext uri="{FF2B5EF4-FFF2-40B4-BE49-F238E27FC236}">
                <a16:creationId xmlns:a16="http://schemas.microsoft.com/office/drawing/2014/main" id="{4C1B7C39-5C44-610D-E025-F61821D25BAE}"/>
              </a:ext>
            </a:extLst>
          </p:cNvPr>
          <p:cNvSpPr>
            <a:spLocks noGrp="1"/>
          </p:cNvSpPr>
          <p:nvPr>
            <p:ph type="sldNum" sz="quarter" idx="12"/>
          </p:nvPr>
        </p:nvSpPr>
        <p:spPr>
          <a:xfrm>
            <a:off x="15773400" y="9563100"/>
            <a:ext cx="2133600" cy="365125"/>
          </a:xfrm>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5" name="TextBox 5"/>
          <p:cNvSpPr txBox="1"/>
          <p:nvPr/>
        </p:nvSpPr>
        <p:spPr>
          <a:xfrm>
            <a:off x="4824964" y="838200"/>
            <a:ext cx="8983134" cy="1250950"/>
          </a:xfrm>
          <a:prstGeom prst="rect">
            <a:avLst/>
          </a:prstGeom>
        </p:spPr>
        <p:txBody>
          <a:bodyPr lIns="0" tIns="0" rIns="0" bIns="0" rtlCol="0" anchor="t">
            <a:spAutoFit/>
          </a:bodyPr>
          <a:lstStyle/>
          <a:p>
            <a:pPr algn="ctr">
              <a:lnSpc>
                <a:spcPts val="9799"/>
              </a:lnSpc>
            </a:pPr>
            <a:r>
              <a:rPr lang="fr-FR" sz="6999" b="1" noProof="0" dirty="0">
                <a:solidFill>
                  <a:srgbClr val="EE3F1E"/>
                </a:solidFill>
                <a:latin typeface="Poppins Bold"/>
                <a:ea typeface="Poppins Bold"/>
                <a:cs typeface="Poppins Bold"/>
                <a:sym typeface="Poppins Bold"/>
              </a:rPr>
              <a:t>ANALYSE QQOQCCP</a:t>
            </a:r>
          </a:p>
        </p:txBody>
      </p:sp>
      <p:graphicFrame>
        <p:nvGraphicFramePr>
          <p:cNvPr id="7" name="Table 6">
            <a:extLst>
              <a:ext uri="{FF2B5EF4-FFF2-40B4-BE49-F238E27FC236}">
                <a16:creationId xmlns:a16="http://schemas.microsoft.com/office/drawing/2014/main" id="{7A3C065F-3FD8-D6B9-C274-13CD6FC2AEFA}"/>
              </a:ext>
            </a:extLst>
          </p:cNvPr>
          <p:cNvGraphicFramePr>
            <a:graphicFrameLocks noGrp="1"/>
          </p:cNvGraphicFramePr>
          <p:nvPr>
            <p:extLst>
              <p:ext uri="{D42A27DB-BD31-4B8C-83A1-F6EECF244321}">
                <p14:modId xmlns:p14="http://schemas.microsoft.com/office/powerpoint/2010/main" val="319614374"/>
              </p:ext>
            </p:extLst>
          </p:nvPr>
        </p:nvGraphicFramePr>
        <p:xfrm>
          <a:off x="2344231" y="2108200"/>
          <a:ext cx="13944600" cy="6839316"/>
        </p:xfrm>
        <a:graphic>
          <a:graphicData uri="http://schemas.openxmlformats.org/drawingml/2006/table">
            <a:tbl>
              <a:tblPr>
                <a:tableStyleId>{16D9F66E-5EB9-4882-86FB-DCBF35E3C3E4}</a:tableStyleId>
              </a:tblPr>
              <a:tblGrid>
                <a:gridCol w="6972300">
                  <a:extLst>
                    <a:ext uri="{9D8B030D-6E8A-4147-A177-3AD203B41FA5}">
                      <a16:colId xmlns:a16="http://schemas.microsoft.com/office/drawing/2014/main" val="1602402236"/>
                    </a:ext>
                  </a:extLst>
                </a:gridCol>
                <a:gridCol w="6972300">
                  <a:extLst>
                    <a:ext uri="{9D8B030D-6E8A-4147-A177-3AD203B41FA5}">
                      <a16:colId xmlns:a16="http://schemas.microsoft.com/office/drawing/2014/main" val="489268890"/>
                    </a:ext>
                  </a:extLst>
                </a:gridCol>
              </a:tblGrid>
              <a:tr h="294575">
                <a:tc>
                  <a:txBody>
                    <a:bodyPr/>
                    <a:lstStyle/>
                    <a:p>
                      <a:pPr>
                        <a:buNone/>
                      </a:pPr>
                      <a:r>
                        <a:rPr lang="fr-FR" sz="1800" noProof="0" dirty="0"/>
                        <a:t>Élément</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Réponse</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3241420297"/>
                  </a:ext>
                </a:extLst>
              </a:tr>
              <a:tr h="962641">
                <a:tc>
                  <a:txBody>
                    <a:bodyPr/>
                    <a:lstStyle/>
                    <a:p>
                      <a:pPr>
                        <a:buNone/>
                      </a:pPr>
                      <a:r>
                        <a:rPr lang="fr-FR" sz="1800" b="1" noProof="0" dirty="0"/>
                        <a:t>Qui ?</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Les utilisateurs du SGE : administrateur, responsable stock, magasinier, livreur et autres acteurs de l'entrepôt.</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878794291"/>
                  </a:ext>
                </a:extLst>
              </a:tr>
              <a:tr h="1185330">
                <a:tc>
                  <a:txBody>
                    <a:bodyPr/>
                    <a:lstStyle/>
                    <a:p>
                      <a:pPr>
                        <a:buNone/>
                      </a:pPr>
                      <a:r>
                        <a:rPr lang="fr-FR" sz="1800" b="1" noProof="0" dirty="0"/>
                        <a:t>Quoi ?</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Développer un prototype de </a:t>
                      </a:r>
                      <a:r>
                        <a:rPr lang="fr-FR" sz="1800" b="1" noProof="0" dirty="0"/>
                        <a:t>Système de Gestion d'Entrepôt (SGE)</a:t>
                      </a:r>
                      <a:r>
                        <a:rPr lang="fr-FR" sz="1800" noProof="0" dirty="0"/>
                        <a:t> permettant de gérer les produits, les stocks, les réceptions, les expéditions et les utilisateurs.</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1665919398"/>
                  </a:ext>
                </a:extLst>
              </a:tr>
              <a:tr h="739953">
                <a:tc>
                  <a:txBody>
                    <a:bodyPr/>
                    <a:lstStyle/>
                    <a:p>
                      <a:pPr>
                        <a:buNone/>
                      </a:pPr>
                      <a:r>
                        <a:rPr lang="fr-FR" sz="1800" b="1" noProof="0" dirty="0"/>
                        <a:t>Où ?</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Au sein d'un entrepôt de stockage, sur les postes de travail des utilisateurs connectés à la base de données.</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86479470"/>
                  </a:ext>
                </a:extLst>
              </a:tr>
              <a:tr h="739953">
                <a:tc>
                  <a:txBody>
                    <a:bodyPr/>
                    <a:lstStyle/>
                    <a:p>
                      <a:pPr>
                        <a:buNone/>
                      </a:pPr>
                      <a:r>
                        <a:rPr lang="fr-FR" sz="1800" b="1" noProof="0" dirty="0"/>
                        <a:t>Quand ?</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Lors des opérations quotidiennes de réception, de stockage, d'inventaire et d'expédition des marchandises.</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2574539407"/>
                  </a:ext>
                </a:extLst>
              </a:tr>
              <a:tr h="962641">
                <a:tc>
                  <a:txBody>
                    <a:bodyPr/>
                    <a:lstStyle/>
                    <a:p>
                      <a:pPr>
                        <a:buNone/>
                      </a:pPr>
                      <a:r>
                        <a:rPr lang="fr-FR" sz="1800" b="1" noProof="0" dirty="0"/>
                        <a:t>Comment ?</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À l'aide d'une application graphique développée en </a:t>
                      </a:r>
                      <a:r>
                        <a:rPr lang="fr-FR" sz="1800" b="1" noProof="0" dirty="0"/>
                        <a:t>Python (PySide6)</a:t>
                      </a:r>
                      <a:r>
                        <a:rPr lang="fr-FR" sz="1800" noProof="0" dirty="0"/>
                        <a:t>, d'une base de données </a:t>
                      </a:r>
                      <a:r>
                        <a:rPr lang="fr-FR" sz="1800" b="1" noProof="0" dirty="0"/>
                        <a:t>PostgreSQL</a:t>
                      </a:r>
                      <a:r>
                        <a:rPr lang="fr-FR" sz="1800" noProof="0" dirty="0"/>
                        <a:t> et d'une interface en ligne de commande (CLI).</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3832961706"/>
                  </a:ext>
                </a:extLst>
              </a:tr>
              <a:tr h="962641">
                <a:tc>
                  <a:txBody>
                    <a:bodyPr/>
                    <a:lstStyle/>
                    <a:p>
                      <a:pPr>
                        <a:buNone/>
                      </a:pPr>
                      <a:r>
                        <a:rPr lang="fr-FR" sz="1800" b="1" noProof="0" dirty="0"/>
                        <a:t>Combien ?</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Un prototype composé de </a:t>
                      </a:r>
                      <a:r>
                        <a:rPr lang="fr-FR" sz="1800" b="1" noProof="0" dirty="0"/>
                        <a:t>trois composantes principales</a:t>
                      </a:r>
                      <a:r>
                        <a:rPr lang="fr-FR" sz="1800" noProof="0" dirty="0"/>
                        <a:t> : la base de données, l'application graphique et l'application d'automatisation (CLI).</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1786093199"/>
                  </a:ext>
                </a:extLst>
              </a:tr>
              <a:tr h="962641">
                <a:tc>
                  <a:txBody>
                    <a:bodyPr/>
                    <a:lstStyle/>
                    <a:p>
                      <a:pPr>
                        <a:buNone/>
                      </a:pPr>
                      <a:r>
                        <a:rPr lang="fr-FR" sz="1800" b="1" noProof="0" dirty="0"/>
                        <a:t>Pourquoi ?</a:t>
                      </a:r>
                      <a:endParaRPr lang="fr-FR" sz="1800" noProof="0" dirty="0">
                        <a:latin typeface="Garet" panose="020B0604020202020204" charset="0"/>
                      </a:endParaRPr>
                    </a:p>
                  </a:txBody>
                  <a:tcPr marL="49195" marR="49195" marT="24598" marB="24598" anchor="ctr"/>
                </a:tc>
                <a:tc>
                  <a:txBody>
                    <a:bodyPr/>
                    <a:lstStyle/>
                    <a:p>
                      <a:pPr>
                        <a:buNone/>
                      </a:pPr>
                      <a:r>
                        <a:rPr lang="fr-FR" sz="1800" noProof="0" dirty="0"/>
                        <a:t>Améliorer la gestion de l'entrepôt, réduire les erreurs, assurer la traçabilité des mouvements de stock et optimiser les opérations logistiques.</a:t>
                      </a:r>
                      <a:endParaRPr lang="fr-FR" sz="1800" noProof="0" dirty="0">
                        <a:latin typeface="Garet" panose="020B0604020202020204" charset="0"/>
                      </a:endParaRPr>
                    </a:p>
                  </a:txBody>
                  <a:tcPr marL="49195" marR="49195" marT="24598" marB="24598" anchor="ctr"/>
                </a:tc>
                <a:extLst>
                  <a:ext uri="{0D108BD9-81ED-4DB2-BD59-A6C34878D82A}">
                    <a16:rowId xmlns:a16="http://schemas.microsoft.com/office/drawing/2014/main" val="3049198777"/>
                  </a:ext>
                </a:extLst>
              </a:tr>
            </a:tbl>
          </a:graphicData>
        </a:graphic>
      </p:graphicFrame>
      <p:sp>
        <p:nvSpPr>
          <p:cNvPr id="10" name="Slide Number Placeholder 9">
            <a:extLst>
              <a:ext uri="{FF2B5EF4-FFF2-40B4-BE49-F238E27FC236}">
                <a16:creationId xmlns:a16="http://schemas.microsoft.com/office/drawing/2014/main" id="{06EC1C29-C23B-C213-CE2B-C86E18414303}"/>
              </a:ext>
            </a:extLst>
          </p:cNvPr>
          <p:cNvSpPr>
            <a:spLocks noGrp="1"/>
          </p:cNvSpPr>
          <p:nvPr>
            <p:ph type="sldNum" sz="quarter" idx="12"/>
          </p:nvPr>
        </p:nvSpPr>
        <p:spPr>
          <a:xfrm>
            <a:off x="15773400" y="9563100"/>
            <a:ext cx="2133600" cy="365125"/>
          </a:xfrm>
        </p:spPr>
        <p:txBody>
          <a:bodyPr/>
          <a:lstStyle/>
          <a:p>
            <a:fld id="{B6F15528-21DE-4FAA-801E-634DDDAF4B2B}"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1028731" y="1799427"/>
            <a:ext cx="16230569" cy="6204823"/>
          </a:xfrm>
          <a:custGeom>
            <a:avLst/>
            <a:gdLst/>
            <a:ahLst/>
            <a:cxnLst/>
            <a:rect l="l" t="t" r="r" b="b"/>
            <a:pathLst>
              <a:path w="16230569" h="6204823">
                <a:moveTo>
                  <a:pt x="0" y="0"/>
                </a:moveTo>
                <a:lnTo>
                  <a:pt x="16230569" y="0"/>
                </a:lnTo>
                <a:lnTo>
                  <a:pt x="16230569" y="6204824"/>
                </a:lnTo>
                <a:lnTo>
                  <a:pt x="0" y="6204824"/>
                </a:lnTo>
                <a:lnTo>
                  <a:pt x="0" y="0"/>
                </a:lnTo>
                <a:close/>
              </a:path>
            </a:pathLst>
          </a:custGeom>
          <a:blipFill>
            <a:blip r:embed="rId2"/>
            <a:stretch>
              <a:fillRect/>
            </a:stretch>
          </a:blipFill>
        </p:spPr>
        <p:txBody>
          <a:bodyPr/>
          <a:lstStyle/>
          <a:p>
            <a:endParaRPr lang="fr-FR" noProof="0" dirty="0"/>
          </a:p>
        </p:txBody>
      </p:sp>
      <p:sp>
        <p:nvSpPr>
          <p:cNvPr id="4" name="TextBox 4"/>
          <p:cNvSpPr txBox="1"/>
          <p:nvPr/>
        </p:nvSpPr>
        <p:spPr>
          <a:xfrm>
            <a:off x="2126630" y="307975"/>
            <a:ext cx="14034739" cy="1250950"/>
          </a:xfrm>
          <a:prstGeom prst="rect">
            <a:avLst/>
          </a:prstGeom>
        </p:spPr>
        <p:txBody>
          <a:bodyPr lIns="0" tIns="0" rIns="0" bIns="0" rtlCol="0" anchor="t">
            <a:spAutoFit/>
          </a:bodyPr>
          <a:lstStyle/>
          <a:p>
            <a:pPr algn="ctr">
              <a:lnSpc>
                <a:spcPts val="9799"/>
              </a:lnSpc>
            </a:pPr>
            <a:r>
              <a:rPr lang="fr-FR" sz="6999" b="1" noProof="0" dirty="0">
                <a:solidFill>
                  <a:srgbClr val="EE3F1E"/>
                </a:solidFill>
                <a:latin typeface="Poppins Bold"/>
                <a:ea typeface="Poppins Bold"/>
                <a:cs typeface="Poppins Bold"/>
                <a:sym typeface="Poppins Bold"/>
              </a:rPr>
              <a:t>PLANNING PREVISIONNEL</a:t>
            </a:r>
          </a:p>
        </p:txBody>
      </p:sp>
      <p:sp>
        <p:nvSpPr>
          <p:cNvPr id="7" name="Slide Number Placeholder 6">
            <a:extLst>
              <a:ext uri="{FF2B5EF4-FFF2-40B4-BE49-F238E27FC236}">
                <a16:creationId xmlns:a16="http://schemas.microsoft.com/office/drawing/2014/main" id="{075C8FFB-2296-219C-D782-871B362E750C}"/>
              </a:ext>
            </a:extLst>
          </p:cNvPr>
          <p:cNvSpPr>
            <a:spLocks noGrp="1"/>
          </p:cNvSpPr>
          <p:nvPr>
            <p:ph type="sldNum" sz="quarter" idx="12"/>
          </p:nvPr>
        </p:nvSpPr>
        <p:spPr>
          <a:xfrm>
            <a:off x="15849600" y="9591040"/>
            <a:ext cx="2133600" cy="365125"/>
          </a:xfrm>
        </p:spPr>
        <p:txBody>
          <a:bodyPr/>
          <a:lstStyle/>
          <a:p>
            <a:fld id="{B6F15528-21DE-4FAA-801E-634DDDAF4B2B}"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1028700" y="1951377"/>
            <a:ext cx="16230600" cy="5893446"/>
          </a:xfrm>
          <a:custGeom>
            <a:avLst/>
            <a:gdLst/>
            <a:ahLst/>
            <a:cxnLst/>
            <a:rect l="l" t="t" r="r" b="b"/>
            <a:pathLst>
              <a:path w="16230600" h="5893446">
                <a:moveTo>
                  <a:pt x="0" y="0"/>
                </a:moveTo>
                <a:lnTo>
                  <a:pt x="16230600" y="0"/>
                </a:lnTo>
                <a:lnTo>
                  <a:pt x="16230600" y="5893445"/>
                </a:lnTo>
                <a:lnTo>
                  <a:pt x="0" y="5893445"/>
                </a:lnTo>
                <a:lnTo>
                  <a:pt x="0" y="0"/>
                </a:lnTo>
                <a:close/>
              </a:path>
            </a:pathLst>
          </a:custGeom>
          <a:blipFill>
            <a:blip r:embed="rId2"/>
            <a:stretch>
              <a:fillRect b="-733"/>
            </a:stretch>
          </a:blipFill>
        </p:spPr>
        <p:txBody>
          <a:bodyPr/>
          <a:lstStyle/>
          <a:p>
            <a:endParaRPr lang="fr-FR" noProof="0" dirty="0"/>
          </a:p>
        </p:txBody>
      </p:sp>
      <p:sp>
        <p:nvSpPr>
          <p:cNvPr id="4" name="TextBox 4"/>
          <p:cNvSpPr txBox="1"/>
          <p:nvPr/>
        </p:nvSpPr>
        <p:spPr>
          <a:xfrm>
            <a:off x="2126630" y="449285"/>
            <a:ext cx="14034739" cy="1250950"/>
          </a:xfrm>
          <a:prstGeom prst="rect">
            <a:avLst/>
          </a:prstGeom>
        </p:spPr>
        <p:txBody>
          <a:bodyPr lIns="0" tIns="0" rIns="0" bIns="0" rtlCol="0" anchor="t">
            <a:spAutoFit/>
          </a:bodyPr>
          <a:lstStyle/>
          <a:p>
            <a:pPr algn="ctr">
              <a:lnSpc>
                <a:spcPts val="9799"/>
              </a:lnSpc>
            </a:pPr>
            <a:r>
              <a:rPr lang="fr-FR" sz="6999" b="1" noProof="0" dirty="0">
                <a:solidFill>
                  <a:srgbClr val="EE3F1E"/>
                </a:solidFill>
                <a:latin typeface="Poppins Bold"/>
                <a:ea typeface="Poppins Bold"/>
                <a:cs typeface="Poppins Bold"/>
                <a:sym typeface="Poppins Bold"/>
              </a:rPr>
              <a:t>PLANNING REEL</a:t>
            </a:r>
          </a:p>
        </p:txBody>
      </p:sp>
      <p:sp>
        <p:nvSpPr>
          <p:cNvPr id="7" name="Slide Number Placeholder 6">
            <a:extLst>
              <a:ext uri="{FF2B5EF4-FFF2-40B4-BE49-F238E27FC236}">
                <a16:creationId xmlns:a16="http://schemas.microsoft.com/office/drawing/2014/main" id="{C1589D85-D575-711B-8C54-79A79D73351E}"/>
              </a:ext>
            </a:extLst>
          </p:cNvPr>
          <p:cNvSpPr>
            <a:spLocks noGrp="1"/>
          </p:cNvSpPr>
          <p:nvPr>
            <p:ph type="sldNum" sz="quarter" idx="12"/>
          </p:nvPr>
        </p:nvSpPr>
        <p:spPr>
          <a:xfrm>
            <a:off x="15925800" y="9472590"/>
            <a:ext cx="2133600" cy="365125"/>
          </a:xfrm>
        </p:spPr>
        <p:txBody>
          <a:bodyPr/>
          <a:lstStyle/>
          <a:p>
            <a:fld id="{B6F15528-21DE-4FAA-801E-634DDDAF4B2B}"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11440795" y="5879346"/>
            <a:ext cx="1673503" cy="1673503"/>
          </a:xfrm>
          <a:custGeom>
            <a:avLst/>
            <a:gdLst/>
            <a:ahLst/>
            <a:cxnLst/>
            <a:rect l="l" t="t" r="r" b="b"/>
            <a:pathLst>
              <a:path w="1673503" h="1673503">
                <a:moveTo>
                  <a:pt x="0" y="0"/>
                </a:moveTo>
                <a:lnTo>
                  <a:pt x="1673503" y="0"/>
                </a:lnTo>
                <a:lnTo>
                  <a:pt x="1673503" y="1673503"/>
                </a:lnTo>
                <a:lnTo>
                  <a:pt x="0" y="1673503"/>
                </a:lnTo>
                <a:lnTo>
                  <a:pt x="0" y="0"/>
                </a:lnTo>
                <a:close/>
              </a:path>
            </a:pathLst>
          </a:custGeom>
          <a:blipFill>
            <a:blip r:embed="rId2"/>
            <a:stretch>
              <a:fillRect/>
            </a:stretch>
          </a:blipFill>
        </p:spPr>
        <p:txBody>
          <a:bodyPr/>
          <a:lstStyle/>
          <a:p>
            <a:endParaRPr lang="fr-FR" noProof="0" dirty="0"/>
          </a:p>
        </p:txBody>
      </p:sp>
      <p:sp>
        <p:nvSpPr>
          <p:cNvPr id="4" name="Freeform 4"/>
          <p:cNvSpPr/>
          <p:nvPr/>
        </p:nvSpPr>
        <p:spPr>
          <a:xfrm>
            <a:off x="12889500" y="6286073"/>
            <a:ext cx="860049" cy="860049"/>
          </a:xfrm>
          <a:custGeom>
            <a:avLst/>
            <a:gdLst/>
            <a:ahLst/>
            <a:cxnLst/>
            <a:rect l="l" t="t" r="r" b="b"/>
            <a:pathLst>
              <a:path w="860049" h="860049">
                <a:moveTo>
                  <a:pt x="0" y="0"/>
                </a:moveTo>
                <a:lnTo>
                  <a:pt x="860049" y="0"/>
                </a:lnTo>
                <a:lnTo>
                  <a:pt x="860049" y="860049"/>
                </a:lnTo>
                <a:lnTo>
                  <a:pt x="0" y="860049"/>
                </a:lnTo>
                <a:lnTo>
                  <a:pt x="0" y="0"/>
                </a:lnTo>
                <a:close/>
              </a:path>
            </a:pathLst>
          </a:custGeom>
          <a:blipFill>
            <a:blip r:embed="rId3"/>
            <a:stretch>
              <a:fillRect/>
            </a:stretch>
          </a:blipFill>
        </p:spPr>
        <p:txBody>
          <a:bodyPr/>
          <a:lstStyle/>
          <a:p>
            <a:endParaRPr lang="fr-FR" noProof="0" dirty="0"/>
          </a:p>
        </p:txBody>
      </p:sp>
      <p:sp>
        <p:nvSpPr>
          <p:cNvPr id="5" name="Freeform 5"/>
          <p:cNvSpPr/>
          <p:nvPr/>
        </p:nvSpPr>
        <p:spPr>
          <a:xfrm>
            <a:off x="14026844" y="6282418"/>
            <a:ext cx="1044464" cy="1044464"/>
          </a:xfrm>
          <a:custGeom>
            <a:avLst/>
            <a:gdLst/>
            <a:ahLst/>
            <a:cxnLst/>
            <a:rect l="l" t="t" r="r" b="b"/>
            <a:pathLst>
              <a:path w="1044464" h="1044464">
                <a:moveTo>
                  <a:pt x="0" y="0"/>
                </a:moveTo>
                <a:lnTo>
                  <a:pt x="1044464" y="0"/>
                </a:lnTo>
                <a:lnTo>
                  <a:pt x="1044464" y="1044464"/>
                </a:lnTo>
                <a:lnTo>
                  <a:pt x="0" y="1044464"/>
                </a:lnTo>
                <a:lnTo>
                  <a:pt x="0" y="0"/>
                </a:lnTo>
                <a:close/>
              </a:path>
            </a:pathLst>
          </a:custGeom>
          <a:blipFill>
            <a:blip r:embed="rId4"/>
            <a:stretch>
              <a:fillRect/>
            </a:stretch>
          </a:blipFill>
        </p:spPr>
        <p:txBody>
          <a:bodyPr/>
          <a:lstStyle/>
          <a:p>
            <a:endParaRPr lang="fr-FR" noProof="0" dirty="0"/>
          </a:p>
        </p:txBody>
      </p:sp>
      <p:sp>
        <p:nvSpPr>
          <p:cNvPr id="6" name="Freeform 6"/>
          <p:cNvSpPr/>
          <p:nvPr/>
        </p:nvSpPr>
        <p:spPr>
          <a:xfrm>
            <a:off x="15347533" y="6076936"/>
            <a:ext cx="1455428" cy="1455428"/>
          </a:xfrm>
          <a:custGeom>
            <a:avLst/>
            <a:gdLst/>
            <a:ahLst/>
            <a:cxnLst/>
            <a:rect l="l" t="t" r="r" b="b"/>
            <a:pathLst>
              <a:path w="1455428" h="1455428">
                <a:moveTo>
                  <a:pt x="0" y="0"/>
                </a:moveTo>
                <a:lnTo>
                  <a:pt x="1455428" y="0"/>
                </a:lnTo>
                <a:lnTo>
                  <a:pt x="1455428" y="1455427"/>
                </a:lnTo>
                <a:lnTo>
                  <a:pt x="0" y="1455427"/>
                </a:lnTo>
                <a:lnTo>
                  <a:pt x="0" y="0"/>
                </a:lnTo>
                <a:close/>
              </a:path>
            </a:pathLst>
          </a:custGeom>
          <a:blipFill>
            <a:blip r:embed="rId5"/>
            <a:stretch>
              <a:fillRect/>
            </a:stretch>
          </a:blipFill>
        </p:spPr>
        <p:txBody>
          <a:bodyPr/>
          <a:lstStyle/>
          <a:p>
            <a:endParaRPr lang="fr-FR" noProof="0" dirty="0"/>
          </a:p>
        </p:txBody>
      </p:sp>
      <p:sp>
        <p:nvSpPr>
          <p:cNvPr id="7" name="Freeform 7"/>
          <p:cNvSpPr/>
          <p:nvPr/>
        </p:nvSpPr>
        <p:spPr>
          <a:xfrm>
            <a:off x="11694650" y="7326882"/>
            <a:ext cx="2562636" cy="1888953"/>
          </a:xfrm>
          <a:custGeom>
            <a:avLst/>
            <a:gdLst/>
            <a:ahLst/>
            <a:cxnLst/>
            <a:rect l="l" t="t" r="r" b="b"/>
            <a:pathLst>
              <a:path w="2562636" h="1888953">
                <a:moveTo>
                  <a:pt x="0" y="0"/>
                </a:moveTo>
                <a:lnTo>
                  <a:pt x="2562636" y="0"/>
                </a:lnTo>
                <a:lnTo>
                  <a:pt x="2562636" y="1888953"/>
                </a:lnTo>
                <a:lnTo>
                  <a:pt x="0" y="1888953"/>
                </a:lnTo>
                <a:lnTo>
                  <a:pt x="0" y="0"/>
                </a:lnTo>
                <a:close/>
              </a:path>
            </a:pathLst>
          </a:custGeom>
          <a:blipFill>
            <a:blip r:embed="rId6"/>
            <a:stretch>
              <a:fillRect/>
            </a:stretch>
          </a:blipFill>
        </p:spPr>
        <p:txBody>
          <a:bodyPr/>
          <a:lstStyle/>
          <a:p>
            <a:endParaRPr lang="fr-FR" noProof="0" dirty="0"/>
          </a:p>
        </p:txBody>
      </p:sp>
      <p:sp>
        <p:nvSpPr>
          <p:cNvPr id="8" name="Freeform 8"/>
          <p:cNvSpPr/>
          <p:nvPr/>
        </p:nvSpPr>
        <p:spPr>
          <a:xfrm>
            <a:off x="13581643" y="7532363"/>
            <a:ext cx="1351285" cy="1438313"/>
          </a:xfrm>
          <a:custGeom>
            <a:avLst/>
            <a:gdLst/>
            <a:ahLst/>
            <a:cxnLst/>
            <a:rect l="l" t="t" r="r" b="b"/>
            <a:pathLst>
              <a:path w="1351285" h="1438313">
                <a:moveTo>
                  <a:pt x="0" y="0"/>
                </a:moveTo>
                <a:lnTo>
                  <a:pt x="1351286" y="0"/>
                </a:lnTo>
                <a:lnTo>
                  <a:pt x="1351286" y="1438314"/>
                </a:lnTo>
                <a:lnTo>
                  <a:pt x="0" y="1438314"/>
                </a:lnTo>
                <a:lnTo>
                  <a:pt x="0" y="0"/>
                </a:lnTo>
                <a:close/>
              </a:path>
            </a:pathLst>
          </a:custGeom>
          <a:blipFill>
            <a:blip r:embed="rId7"/>
            <a:stretch>
              <a:fillRect r="-6440"/>
            </a:stretch>
          </a:blipFill>
        </p:spPr>
        <p:txBody>
          <a:bodyPr/>
          <a:lstStyle/>
          <a:p>
            <a:endParaRPr lang="fr-FR" noProof="0" dirty="0"/>
          </a:p>
        </p:txBody>
      </p:sp>
      <p:sp>
        <p:nvSpPr>
          <p:cNvPr id="9" name="TextBox 9"/>
          <p:cNvSpPr txBox="1"/>
          <p:nvPr/>
        </p:nvSpPr>
        <p:spPr>
          <a:xfrm>
            <a:off x="5822256" y="492058"/>
            <a:ext cx="6643487" cy="1250950"/>
          </a:xfrm>
          <a:prstGeom prst="rect">
            <a:avLst/>
          </a:prstGeom>
        </p:spPr>
        <p:txBody>
          <a:bodyPr lIns="0" tIns="0" rIns="0" bIns="0" rtlCol="0" anchor="t">
            <a:spAutoFit/>
          </a:bodyPr>
          <a:lstStyle/>
          <a:p>
            <a:pPr algn="ctr">
              <a:lnSpc>
                <a:spcPts val="9799"/>
              </a:lnSpc>
            </a:pPr>
            <a:r>
              <a:rPr lang="fr-FR" sz="6999" b="1" noProof="0" dirty="0">
                <a:solidFill>
                  <a:srgbClr val="EE3F1E"/>
                </a:solidFill>
                <a:latin typeface="Poppins Bold"/>
                <a:ea typeface="Poppins Bold"/>
                <a:cs typeface="Poppins Bold"/>
                <a:sym typeface="Poppins Bold"/>
              </a:rPr>
              <a:t>RESSOURCES</a:t>
            </a:r>
          </a:p>
        </p:txBody>
      </p:sp>
      <p:sp>
        <p:nvSpPr>
          <p:cNvPr id="10" name="TextBox 10"/>
          <p:cNvSpPr txBox="1"/>
          <p:nvPr/>
        </p:nvSpPr>
        <p:spPr>
          <a:xfrm>
            <a:off x="0" y="2125073"/>
            <a:ext cx="6643487" cy="750570"/>
          </a:xfrm>
          <a:prstGeom prst="rect">
            <a:avLst/>
          </a:prstGeom>
        </p:spPr>
        <p:txBody>
          <a:bodyPr lIns="0" tIns="0" rIns="0" bIns="0" rtlCol="0" anchor="t">
            <a:spAutoFit/>
          </a:bodyPr>
          <a:lstStyle/>
          <a:p>
            <a:pPr algn="ctr">
              <a:lnSpc>
                <a:spcPts val="5880"/>
              </a:lnSpc>
            </a:pPr>
            <a:r>
              <a:rPr lang="fr-FR" sz="4200" b="1" noProof="0" dirty="0">
                <a:solidFill>
                  <a:srgbClr val="EE3F1E"/>
                </a:solidFill>
                <a:latin typeface="Poppins Bold"/>
                <a:ea typeface="Poppins Bold"/>
                <a:cs typeface="Poppins Bold"/>
                <a:sym typeface="Poppins Bold"/>
              </a:rPr>
              <a:t>HUMAINES</a:t>
            </a:r>
          </a:p>
        </p:txBody>
      </p:sp>
      <p:sp>
        <p:nvSpPr>
          <p:cNvPr id="11" name="TextBox 11"/>
          <p:cNvSpPr txBox="1"/>
          <p:nvPr/>
        </p:nvSpPr>
        <p:spPr>
          <a:xfrm>
            <a:off x="12465744" y="2125073"/>
            <a:ext cx="6643487" cy="750570"/>
          </a:xfrm>
          <a:prstGeom prst="rect">
            <a:avLst/>
          </a:prstGeom>
        </p:spPr>
        <p:txBody>
          <a:bodyPr lIns="0" tIns="0" rIns="0" bIns="0" rtlCol="0" anchor="t">
            <a:spAutoFit/>
          </a:bodyPr>
          <a:lstStyle/>
          <a:p>
            <a:pPr algn="ctr">
              <a:lnSpc>
                <a:spcPts val="5880"/>
              </a:lnSpc>
            </a:pPr>
            <a:r>
              <a:rPr lang="fr-FR" sz="4200" b="1" noProof="0" dirty="0">
                <a:solidFill>
                  <a:srgbClr val="EE3F1E"/>
                </a:solidFill>
                <a:latin typeface="Poppins Bold"/>
                <a:ea typeface="Poppins Bold"/>
                <a:cs typeface="Poppins Bold"/>
                <a:sym typeface="Poppins Bold"/>
              </a:rPr>
              <a:t>LOGICIELLES</a:t>
            </a:r>
          </a:p>
        </p:txBody>
      </p:sp>
      <p:sp>
        <p:nvSpPr>
          <p:cNvPr id="12" name="TextBox 12"/>
          <p:cNvSpPr txBox="1"/>
          <p:nvPr/>
        </p:nvSpPr>
        <p:spPr>
          <a:xfrm>
            <a:off x="5822256" y="2125073"/>
            <a:ext cx="6643487" cy="750570"/>
          </a:xfrm>
          <a:prstGeom prst="rect">
            <a:avLst/>
          </a:prstGeom>
        </p:spPr>
        <p:txBody>
          <a:bodyPr lIns="0" tIns="0" rIns="0" bIns="0" rtlCol="0" anchor="t">
            <a:spAutoFit/>
          </a:bodyPr>
          <a:lstStyle/>
          <a:p>
            <a:pPr algn="ctr">
              <a:lnSpc>
                <a:spcPts val="5880"/>
              </a:lnSpc>
            </a:pPr>
            <a:r>
              <a:rPr lang="fr-FR" sz="4200" b="1" noProof="0" dirty="0">
                <a:solidFill>
                  <a:srgbClr val="EE3F1E"/>
                </a:solidFill>
                <a:latin typeface="Poppins Bold"/>
                <a:ea typeface="Poppins Bold"/>
                <a:cs typeface="Poppins Bold"/>
                <a:sym typeface="Poppins Bold"/>
              </a:rPr>
              <a:t>MATERIELLES</a:t>
            </a:r>
          </a:p>
        </p:txBody>
      </p:sp>
      <p:sp>
        <p:nvSpPr>
          <p:cNvPr id="13" name="TextBox 13"/>
          <p:cNvSpPr txBox="1"/>
          <p:nvPr/>
        </p:nvSpPr>
        <p:spPr>
          <a:xfrm>
            <a:off x="817670" y="3332843"/>
            <a:ext cx="5453053" cy="3577903"/>
          </a:xfrm>
          <a:prstGeom prst="rect">
            <a:avLst/>
          </a:prstGeom>
        </p:spPr>
        <p:txBody>
          <a:bodyPr lIns="0" tIns="0" rIns="0" bIns="0" rtlCol="0" anchor="t">
            <a:spAutoFit/>
          </a:bodyPr>
          <a:lstStyle/>
          <a:p>
            <a:pPr marL="431801" lvl="1" indent="-215900" algn="l">
              <a:lnSpc>
                <a:spcPts val="2800"/>
              </a:lnSpc>
              <a:buFont typeface="Arial"/>
              <a:buChar char="•"/>
            </a:pPr>
            <a:r>
              <a:rPr lang="fr-FR" sz="2000" noProof="0" dirty="0">
                <a:solidFill>
                  <a:srgbClr val="000000"/>
                </a:solidFill>
                <a:latin typeface="Garet"/>
                <a:ea typeface="Garet"/>
                <a:cs typeface="Garet"/>
                <a:sym typeface="Garet"/>
              </a:rPr>
              <a:t>Chef de projet</a:t>
            </a: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Analyste/Concepteur de Base de données</a:t>
            </a: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Développeur </a:t>
            </a:r>
            <a:r>
              <a:rPr lang="fr-FR" sz="2000" noProof="0" dirty="0" err="1">
                <a:solidFill>
                  <a:srgbClr val="000000"/>
                </a:solidFill>
                <a:latin typeface="Garet"/>
                <a:ea typeface="Garet"/>
                <a:cs typeface="Garet"/>
                <a:sym typeface="Garet"/>
              </a:rPr>
              <a:t>back-end</a:t>
            </a:r>
            <a:r>
              <a:rPr lang="fr-FR" sz="2000" noProof="0" dirty="0">
                <a:solidFill>
                  <a:srgbClr val="000000"/>
                </a:solidFill>
                <a:latin typeface="Garet"/>
                <a:ea typeface="Garet"/>
                <a:cs typeface="Garet"/>
                <a:sym typeface="Garet"/>
              </a:rPr>
              <a:t> (Python, PostgreSQL)</a:t>
            </a: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Développeur interface utilisateur</a:t>
            </a: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Testeur / QA</a:t>
            </a: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Rédacteur technique (documentation, rapports)</a:t>
            </a:r>
          </a:p>
          <a:p>
            <a:pPr algn="l">
              <a:lnSpc>
                <a:spcPts val="2800"/>
              </a:lnSpc>
              <a:spcBef>
                <a:spcPct val="0"/>
              </a:spcBef>
            </a:pPr>
            <a:endParaRPr lang="fr-FR" sz="2000" noProof="0" dirty="0">
              <a:solidFill>
                <a:srgbClr val="000000"/>
              </a:solidFill>
              <a:latin typeface="Garet"/>
              <a:ea typeface="Garet"/>
              <a:cs typeface="Garet"/>
              <a:sym typeface="Garet"/>
            </a:endParaRPr>
          </a:p>
        </p:txBody>
      </p:sp>
      <p:sp>
        <p:nvSpPr>
          <p:cNvPr id="14" name="TextBox 14"/>
          <p:cNvSpPr txBox="1"/>
          <p:nvPr/>
        </p:nvSpPr>
        <p:spPr>
          <a:xfrm>
            <a:off x="6643487" y="3332843"/>
            <a:ext cx="5453053" cy="1064394"/>
          </a:xfrm>
          <a:prstGeom prst="rect">
            <a:avLst/>
          </a:prstGeom>
        </p:spPr>
        <p:txBody>
          <a:bodyPr lIns="0" tIns="0" rIns="0" bIns="0" rtlCol="0" anchor="t">
            <a:spAutoFit/>
          </a:bodyPr>
          <a:lstStyle/>
          <a:p>
            <a:pPr marL="431801" lvl="1" indent="-215900" algn="l">
              <a:lnSpc>
                <a:spcPts val="2800"/>
              </a:lnSpc>
              <a:buFont typeface="Arial"/>
              <a:buChar char="•"/>
            </a:pPr>
            <a:r>
              <a:rPr lang="fr-FR" sz="2000" noProof="0" dirty="0">
                <a:solidFill>
                  <a:srgbClr val="000000"/>
                </a:solidFill>
                <a:latin typeface="Garet"/>
                <a:ea typeface="Garet"/>
                <a:cs typeface="Garet"/>
                <a:sym typeface="Garet"/>
              </a:rPr>
              <a:t>Ordinateurs portables</a:t>
            </a: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Box Wi-Fi</a:t>
            </a:r>
          </a:p>
          <a:p>
            <a:pPr algn="l">
              <a:lnSpc>
                <a:spcPts val="2800"/>
              </a:lnSpc>
              <a:spcBef>
                <a:spcPct val="0"/>
              </a:spcBef>
            </a:pPr>
            <a:endParaRPr lang="fr-FR" sz="2000" noProof="0" dirty="0">
              <a:solidFill>
                <a:srgbClr val="000000"/>
              </a:solidFill>
              <a:latin typeface="Garet"/>
              <a:ea typeface="Garet"/>
              <a:cs typeface="Garet"/>
              <a:sym typeface="Garet"/>
            </a:endParaRPr>
          </a:p>
        </p:txBody>
      </p:sp>
      <p:sp>
        <p:nvSpPr>
          <p:cNvPr id="15" name="TextBox 15"/>
          <p:cNvSpPr txBox="1"/>
          <p:nvPr/>
        </p:nvSpPr>
        <p:spPr>
          <a:xfrm>
            <a:off x="13060961" y="3332843"/>
            <a:ext cx="5453053" cy="2859757"/>
          </a:xfrm>
          <a:prstGeom prst="rect">
            <a:avLst/>
          </a:prstGeom>
        </p:spPr>
        <p:txBody>
          <a:bodyPr lIns="0" tIns="0" rIns="0" bIns="0" rtlCol="0" anchor="t">
            <a:spAutoFit/>
          </a:bodyPr>
          <a:lstStyle/>
          <a:p>
            <a:pPr marL="431801" lvl="1" indent="-215900" algn="l">
              <a:lnSpc>
                <a:spcPts val="2800"/>
              </a:lnSpc>
              <a:buFont typeface="Arial"/>
              <a:buChar char="•"/>
            </a:pPr>
            <a:r>
              <a:rPr lang="fr-FR" sz="2000" noProof="0" dirty="0">
                <a:solidFill>
                  <a:srgbClr val="000000"/>
                </a:solidFill>
                <a:latin typeface="Garet"/>
                <a:ea typeface="Garet"/>
                <a:cs typeface="Garet"/>
                <a:sym typeface="Garet"/>
              </a:rPr>
              <a:t>VS Code</a:t>
            </a:r>
          </a:p>
          <a:p>
            <a:pPr marL="431801" lvl="1" indent="-215900" algn="l">
              <a:lnSpc>
                <a:spcPts val="2800"/>
              </a:lnSpc>
              <a:buFont typeface="Arial"/>
              <a:buChar char="•"/>
            </a:pPr>
            <a:r>
              <a:rPr lang="fr-FR" sz="2000" noProof="0" dirty="0" err="1">
                <a:solidFill>
                  <a:srgbClr val="000000"/>
                </a:solidFill>
                <a:latin typeface="Garet"/>
                <a:ea typeface="Garet"/>
                <a:cs typeface="Garet"/>
                <a:sym typeface="Garet"/>
              </a:rPr>
              <a:t>DataGrip</a:t>
            </a:r>
            <a:endParaRPr lang="fr-FR" sz="2000" noProof="0" dirty="0">
              <a:solidFill>
                <a:srgbClr val="000000"/>
              </a:solidFill>
              <a:latin typeface="Garet"/>
              <a:ea typeface="Garet"/>
              <a:cs typeface="Garet"/>
              <a:sym typeface="Garet"/>
            </a:endParaRP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Draw.io</a:t>
            </a:r>
          </a:p>
          <a:p>
            <a:pPr marL="431801" lvl="1" indent="-215900" algn="l">
              <a:lnSpc>
                <a:spcPts val="2800"/>
              </a:lnSpc>
              <a:buFont typeface="Arial"/>
              <a:buChar char="•"/>
            </a:pPr>
            <a:r>
              <a:rPr lang="fr-FR" sz="2000" noProof="0" dirty="0" err="1">
                <a:solidFill>
                  <a:srgbClr val="000000"/>
                </a:solidFill>
                <a:latin typeface="Garet"/>
                <a:ea typeface="Garet"/>
                <a:cs typeface="Garet"/>
                <a:sym typeface="Garet"/>
              </a:rPr>
              <a:t>Figma</a:t>
            </a:r>
            <a:endParaRPr lang="fr-FR" sz="2000" noProof="0" dirty="0">
              <a:solidFill>
                <a:srgbClr val="000000"/>
              </a:solidFill>
              <a:latin typeface="Garet"/>
              <a:ea typeface="Garet"/>
              <a:cs typeface="Garet"/>
              <a:sym typeface="Garet"/>
            </a:endParaRP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Microsoft Office</a:t>
            </a:r>
          </a:p>
          <a:p>
            <a:pPr marL="431801" lvl="1" indent="-215900" algn="l">
              <a:lnSpc>
                <a:spcPts val="2800"/>
              </a:lnSpc>
              <a:buFont typeface="Arial"/>
              <a:buChar char="•"/>
            </a:pPr>
            <a:r>
              <a:rPr lang="fr-FR" sz="2000" dirty="0">
                <a:solidFill>
                  <a:srgbClr val="000000"/>
                </a:solidFill>
                <a:latin typeface="Garet"/>
                <a:ea typeface="Garet"/>
                <a:cs typeface="Garet"/>
                <a:sym typeface="Garet"/>
              </a:rPr>
              <a:t>Gantt Project</a:t>
            </a:r>
            <a:endParaRPr lang="fr-FR" sz="2000" noProof="0" dirty="0">
              <a:solidFill>
                <a:srgbClr val="000000"/>
              </a:solidFill>
              <a:latin typeface="Garet"/>
              <a:ea typeface="Garet"/>
              <a:cs typeface="Garet"/>
              <a:sym typeface="Garet"/>
            </a:endParaRPr>
          </a:p>
          <a:p>
            <a:pPr marL="431801" lvl="1" indent="-215900" algn="l">
              <a:lnSpc>
                <a:spcPts val="2800"/>
              </a:lnSpc>
              <a:buFont typeface="Arial"/>
              <a:buChar char="•"/>
            </a:pPr>
            <a:r>
              <a:rPr lang="fr-FR" sz="2000" noProof="0" dirty="0">
                <a:solidFill>
                  <a:srgbClr val="000000"/>
                </a:solidFill>
                <a:latin typeface="Garet"/>
                <a:ea typeface="Garet"/>
                <a:cs typeface="Garet"/>
                <a:sym typeface="Garet"/>
              </a:rPr>
              <a:t>Claude AI</a:t>
            </a:r>
          </a:p>
          <a:p>
            <a:pPr marL="431801" lvl="1" indent="-215900" algn="l">
              <a:lnSpc>
                <a:spcPts val="2800"/>
              </a:lnSpc>
              <a:spcBef>
                <a:spcPct val="0"/>
              </a:spcBef>
              <a:buFont typeface="Arial"/>
              <a:buChar char="•"/>
            </a:pPr>
            <a:r>
              <a:rPr lang="fr-FR" sz="2000" noProof="0" dirty="0" err="1">
                <a:solidFill>
                  <a:srgbClr val="000000"/>
                </a:solidFill>
                <a:latin typeface="Garet"/>
                <a:ea typeface="Garet"/>
                <a:cs typeface="Garet"/>
                <a:sym typeface="Garet"/>
              </a:rPr>
              <a:t>ChatGPT</a:t>
            </a:r>
            <a:r>
              <a:rPr lang="fr-FR" sz="2000" noProof="0" dirty="0">
                <a:solidFill>
                  <a:srgbClr val="000000"/>
                </a:solidFill>
                <a:latin typeface="Garet"/>
                <a:ea typeface="Garet"/>
                <a:cs typeface="Garet"/>
                <a:sym typeface="Garet"/>
              </a:rPr>
              <a:t> </a:t>
            </a:r>
          </a:p>
        </p:txBody>
      </p:sp>
      <p:sp>
        <p:nvSpPr>
          <p:cNvPr id="18" name="Slide Number Placeholder 17">
            <a:extLst>
              <a:ext uri="{FF2B5EF4-FFF2-40B4-BE49-F238E27FC236}">
                <a16:creationId xmlns:a16="http://schemas.microsoft.com/office/drawing/2014/main" id="{C0CEFEC2-B5C6-622B-53C4-8765B5125194}"/>
              </a:ext>
            </a:extLst>
          </p:cNvPr>
          <p:cNvSpPr>
            <a:spLocks noGrp="1"/>
          </p:cNvSpPr>
          <p:nvPr>
            <p:ph type="sldNum" sz="quarter" idx="12"/>
          </p:nvPr>
        </p:nvSpPr>
        <p:spPr>
          <a:xfrm>
            <a:off x="15800550" y="9563100"/>
            <a:ext cx="2133600" cy="365125"/>
          </a:xfrm>
        </p:spPr>
        <p:txBody>
          <a:bodyPr/>
          <a:lstStyle/>
          <a:p>
            <a:fld id="{B6F15528-21DE-4FAA-801E-634DDDAF4B2B}" type="slidenum">
              <a:rPr lang="en-US" smtClean="0"/>
              <a:pPr/>
              <a:t>11</a:t>
            </a:fld>
            <a:endParaRPr lang="en-US" dirty="0"/>
          </a:p>
        </p:txBody>
      </p:sp>
      <p:pic>
        <p:nvPicPr>
          <p:cNvPr id="22" name="Image 21">
            <a:extLst>
              <a:ext uri="{FF2B5EF4-FFF2-40B4-BE49-F238E27FC236}">
                <a16:creationId xmlns:a16="http://schemas.microsoft.com/office/drawing/2014/main" id="{3A393FAD-41A8-A338-E931-0F1B58F07360}"/>
              </a:ext>
            </a:extLst>
          </p:cNvPr>
          <p:cNvPicPr>
            <a:picLocks noChangeAspect="1"/>
          </p:cNvPicPr>
          <p:nvPr/>
        </p:nvPicPr>
        <p:blipFill>
          <a:blip r:embed="rId8"/>
          <a:stretch>
            <a:fillRect/>
          </a:stretch>
        </p:blipFill>
        <p:spPr>
          <a:xfrm>
            <a:off x="15438531" y="7734299"/>
            <a:ext cx="1169516" cy="990601"/>
          </a:xfrm>
          <a:prstGeom prst="rect">
            <a:avLst/>
          </a:prstGeom>
        </p:spPr>
      </p:pic>
      <p:pic>
        <p:nvPicPr>
          <p:cNvPr id="24" name="Image 23">
            <a:extLst>
              <a:ext uri="{FF2B5EF4-FFF2-40B4-BE49-F238E27FC236}">
                <a16:creationId xmlns:a16="http://schemas.microsoft.com/office/drawing/2014/main" id="{4C2E5C66-CE74-52EC-1D66-4742308346FF}"/>
              </a:ext>
            </a:extLst>
          </p:cNvPr>
          <p:cNvPicPr>
            <a:picLocks noChangeAspect="1"/>
          </p:cNvPicPr>
          <p:nvPr/>
        </p:nvPicPr>
        <p:blipFill>
          <a:blip r:embed="rId9"/>
          <a:stretch>
            <a:fillRect/>
          </a:stretch>
        </p:blipFill>
        <p:spPr>
          <a:xfrm>
            <a:off x="10120829" y="7310426"/>
            <a:ext cx="1319966" cy="14601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4" name="TextBox 4"/>
          <p:cNvSpPr txBox="1"/>
          <p:nvPr/>
        </p:nvSpPr>
        <p:spPr>
          <a:xfrm>
            <a:off x="5822255" y="0"/>
            <a:ext cx="6643487" cy="1250950"/>
          </a:xfrm>
          <a:prstGeom prst="rect">
            <a:avLst/>
          </a:prstGeom>
        </p:spPr>
        <p:txBody>
          <a:bodyPr lIns="0" tIns="0" rIns="0" bIns="0" rtlCol="0" anchor="t">
            <a:spAutoFit/>
          </a:bodyPr>
          <a:lstStyle/>
          <a:p>
            <a:pPr algn="ctr">
              <a:lnSpc>
                <a:spcPts val="9799"/>
              </a:lnSpc>
            </a:pPr>
            <a:r>
              <a:rPr lang="fr-FR" sz="6999" b="1" noProof="0" dirty="0">
                <a:solidFill>
                  <a:srgbClr val="EE3F1E"/>
                </a:solidFill>
                <a:latin typeface="Poppins Bold"/>
                <a:ea typeface="Poppins Bold"/>
                <a:cs typeface="Poppins Bold"/>
                <a:sym typeface="Poppins Bold"/>
              </a:rPr>
              <a:t>BUDGET</a:t>
            </a:r>
          </a:p>
        </p:txBody>
      </p:sp>
      <p:graphicFrame>
        <p:nvGraphicFramePr>
          <p:cNvPr id="5" name="Table 4">
            <a:extLst>
              <a:ext uri="{FF2B5EF4-FFF2-40B4-BE49-F238E27FC236}">
                <a16:creationId xmlns:a16="http://schemas.microsoft.com/office/drawing/2014/main" id="{1A8CFD05-F0A7-4261-9A1B-F1CEEEA16E39}"/>
              </a:ext>
            </a:extLst>
          </p:cNvPr>
          <p:cNvGraphicFramePr>
            <a:graphicFrameLocks noGrp="1"/>
          </p:cNvGraphicFramePr>
          <p:nvPr>
            <p:extLst>
              <p:ext uri="{D42A27DB-BD31-4B8C-83A1-F6EECF244321}">
                <p14:modId xmlns:p14="http://schemas.microsoft.com/office/powerpoint/2010/main" val="4007376626"/>
              </p:ext>
            </p:extLst>
          </p:nvPr>
        </p:nvGraphicFramePr>
        <p:xfrm>
          <a:off x="3105868" y="1205229"/>
          <a:ext cx="12076260" cy="7210449"/>
        </p:xfrm>
        <a:graphic>
          <a:graphicData uri="http://schemas.openxmlformats.org/drawingml/2006/table">
            <a:tbl>
              <a:tblPr/>
              <a:tblGrid>
                <a:gridCol w="2415252">
                  <a:extLst>
                    <a:ext uri="{9D8B030D-6E8A-4147-A177-3AD203B41FA5}">
                      <a16:colId xmlns:a16="http://schemas.microsoft.com/office/drawing/2014/main" val="3306760940"/>
                    </a:ext>
                  </a:extLst>
                </a:gridCol>
                <a:gridCol w="2415252">
                  <a:extLst>
                    <a:ext uri="{9D8B030D-6E8A-4147-A177-3AD203B41FA5}">
                      <a16:colId xmlns:a16="http://schemas.microsoft.com/office/drawing/2014/main" val="3241067546"/>
                    </a:ext>
                  </a:extLst>
                </a:gridCol>
                <a:gridCol w="2415252">
                  <a:extLst>
                    <a:ext uri="{9D8B030D-6E8A-4147-A177-3AD203B41FA5}">
                      <a16:colId xmlns:a16="http://schemas.microsoft.com/office/drawing/2014/main" val="900315060"/>
                    </a:ext>
                  </a:extLst>
                </a:gridCol>
                <a:gridCol w="2415252">
                  <a:extLst>
                    <a:ext uri="{9D8B030D-6E8A-4147-A177-3AD203B41FA5}">
                      <a16:colId xmlns:a16="http://schemas.microsoft.com/office/drawing/2014/main" val="997949593"/>
                    </a:ext>
                  </a:extLst>
                </a:gridCol>
                <a:gridCol w="2415252">
                  <a:extLst>
                    <a:ext uri="{9D8B030D-6E8A-4147-A177-3AD203B41FA5}">
                      <a16:colId xmlns:a16="http://schemas.microsoft.com/office/drawing/2014/main" val="521760307"/>
                    </a:ext>
                  </a:extLst>
                </a:gridCol>
              </a:tblGrid>
              <a:tr h="480928">
                <a:tc>
                  <a:txBody>
                    <a:bodyPr/>
                    <a:lstStyle/>
                    <a:p>
                      <a:r>
                        <a:rPr lang="fr-FR" sz="2000" b="1" baseline="0" noProof="0" dirty="0">
                          <a:effectLst/>
                        </a:rPr>
                        <a:t>Ressource</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Missions</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Charge (JH)</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Coût/JH (FCFA)</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Coût total (FCFA)</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18641683"/>
                  </a:ext>
                </a:extLst>
              </a:tr>
              <a:tr h="1196975">
                <a:tc>
                  <a:txBody>
                    <a:bodyPr/>
                    <a:lstStyle/>
                    <a:p>
                      <a:r>
                        <a:rPr lang="fr-FR" sz="2000" b="1" baseline="0" noProof="0" dirty="0">
                          <a:effectLst/>
                        </a:rPr>
                        <a:t>Chef de projet</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Planification, coordination, suivi, validation des livrables</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16</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45 000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720 000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115139868"/>
                  </a:ext>
                </a:extLst>
              </a:tr>
              <a:tr h="1027381">
                <a:tc>
                  <a:txBody>
                    <a:bodyPr/>
                    <a:lstStyle/>
                    <a:p>
                      <a:r>
                        <a:rPr lang="fr-FR" sz="2000" b="1" baseline="0" noProof="0" dirty="0">
                          <a:effectLst/>
                        </a:rPr>
                        <a:t>Concepteur Base de données</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Analyse métier, MCD, MLD, conception du schéma relationnel</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10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42 000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420 000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985264072"/>
                  </a:ext>
                </a:extLst>
              </a:tr>
              <a:tr h="907959">
                <a:tc>
                  <a:txBody>
                    <a:bodyPr/>
                    <a:lstStyle/>
                    <a:p>
                      <a:r>
                        <a:rPr lang="fr-FR" sz="2000" b="1" baseline="0" noProof="0" dirty="0">
                          <a:effectLst/>
                        </a:rPr>
                        <a:t>Développeur Base de données</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Développement SQL, procédures, triggers, vues, tests SQL</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9</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42 000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378 000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727229924"/>
                  </a:ext>
                </a:extLst>
              </a:tr>
              <a:tr h="1196975">
                <a:tc>
                  <a:txBody>
                    <a:bodyPr/>
                    <a:lstStyle/>
                    <a:p>
                      <a:r>
                        <a:rPr lang="fr-FR" sz="2000" b="1" baseline="0" noProof="0" dirty="0">
                          <a:effectLst/>
                        </a:rPr>
                        <a:t>Développeur Interface Utilisateur</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Maquettes, développement PySide6, intégration GUI/CLI</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12</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40 000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480 000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935874909"/>
                  </a:ext>
                </a:extLst>
              </a:tr>
              <a:tr h="907959">
                <a:tc>
                  <a:txBody>
                    <a:bodyPr/>
                    <a:lstStyle/>
                    <a:p>
                      <a:r>
                        <a:rPr lang="fr-FR" sz="2000" b="1" baseline="0" noProof="0" dirty="0">
                          <a:effectLst/>
                        </a:rPr>
                        <a:t>Testeur</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Tests unitaires, d'intégration et fonctionnels</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6</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30 000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180 000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89174392"/>
                  </a:ext>
                </a:extLst>
              </a:tr>
              <a:tr h="1196975">
                <a:tc>
                  <a:txBody>
                    <a:bodyPr/>
                    <a:lstStyle/>
                    <a:p>
                      <a:r>
                        <a:rPr lang="fr-FR" sz="2000" b="1" baseline="0" noProof="0" dirty="0">
                          <a:effectLst/>
                        </a:rPr>
                        <a:t>Rédacteur technique</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Documentation de spécification, conception et manuel utilisateur</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5</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30 000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r>
                        <a:rPr lang="fr-FR" sz="2000" b="1" baseline="0" noProof="0" dirty="0">
                          <a:effectLst/>
                        </a:rPr>
                        <a:t>150 000</a:t>
                      </a:r>
                    </a:p>
                  </a:txBody>
                  <a:tcPr marL="43148" marR="43148" marT="21574" marB="21574"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267536869"/>
                  </a:ext>
                </a:extLst>
              </a:tr>
            </a:tbl>
          </a:graphicData>
        </a:graphic>
      </p:graphicFrame>
      <p:sp>
        <p:nvSpPr>
          <p:cNvPr id="6" name="Rectangle 1">
            <a:extLst>
              <a:ext uri="{FF2B5EF4-FFF2-40B4-BE49-F238E27FC236}">
                <a16:creationId xmlns:a16="http://schemas.microsoft.com/office/drawing/2014/main" id="{BE1C7157-08BD-40AC-826A-7851296F6EE0}"/>
              </a:ext>
            </a:extLst>
          </p:cNvPr>
          <p:cNvSpPr>
            <a:spLocks noChangeArrowheads="1"/>
          </p:cNvSpPr>
          <p:nvPr/>
        </p:nvSpPr>
        <p:spPr bwMode="auto">
          <a:xfrm>
            <a:off x="2630488" y="1600200"/>
            <a:ext cx="3390497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noProof="0" dirty="0"/>
          </a:p>
        </p:txBody>
      </p:sp>
      <p:sp>
        <p:nvSpPr>
          <p:cNvPr id="8" name="Slide Number Placeholder 7">
            <a:extLst>
              <a:ext uri="{FF2B5EF4-FFF2-40B4-BE49-F238E27FC236}">
                <a16:creationId xmlns:a16="http://schemas.microsoft.com/office/drawing/2014/main" id="{A13D4CF9-FADC-2137-E898-62F347143066}"/>
              </a:ext>
            </a:extLst>
          </p:cNvPr>
          <p:cNvSpPr>
            <a:spLocks noGrp="1"/>
          </p:cNvSpPr>
          <p:nvPr>
            <p:ph type="sldNum" sz="quarter" idx="12"/>
          </p:nvPr>
        </p:nvSpPr>
        <p:spPr>
          <a:xfrm>
            <a:off x="15925800" y="9563100"/>
            <a:ext cx="2133600" cy="365125"/>
          </a:xfrm>
        </p:spPr>
        <p:txBody>
          <a:bodyPr/>
          <a:lstStyle/>
          <a:p>
            <a:fld id="{B6F15528-21DE-4FAA-801E-634DDDAF4B2B}" type="slidenum">
              <a:rPr lang="en-US" smtClean="0"/>
              <a:pPr/>
              <a:t>12</a:t>
            </a:fld>
            <a:endParaRPr lang="en-US" dirty="0"/>
          </a:p>
        </p:txBody>
      </p:sp>
      <p:sp>
        <p:nvSpPr>
          <p:cNvPr id="9" name="TextBox 8">
            <a:extLst>
              <a:ext uri="{FF2B5EF4-FFF2-40B4-BE49-F238E27FC236}">
                <a16:creationId xmlns:a16="http://schemas.microsoft.com/office/drawing/2014/main" id="{BA4B4A86-5244-B0EE-C80A-365C08BFE62E}"/>
              </a:ext>
            </a:extLst>
          </p:cNvPr>
          <p:cNvSpPr txBox="1"/>
          <p:nvPr/>
        </p:nvSpPr>
        <p:spPr>
          <a:xfrm>
            <a:off x="10287000" y="8810649"/>
            <a:ext cx="5486400" cy="523220"/>
          </a:xfrm>
          <a:prstGeom prst="rect">
            <a:avLst/>
          </a:prstGeom>
          <a:noFill/>
        </p:spPr>
        <p:txBody>
          <a:bodyPr wrap="square" rtlCol="0">
            <a:spAutoFit/>
          </a:bodyPr>
          <a:lstStyle/>
          <a:p>
            <a:r>
              <a:rPr lang="fr-FR" sz="2800" b="1" dirty="0">
                <a:latin typeface="Garet" panose="020B0604020202020204" charset="0"/>
              </a:rPr>
              <a:t>TOTAL: 2.328.000 FCFA</a:t>
            </a:r>
          </a:p>
        </p:txBody>
      </p:sp>
      <p:sp>
        <p:nvSpPr>
          <p:cNvPr id="7" name="ZoneTexte 6">
            <a:extLst>
              <a:ext uri="{FF2B5EF4-FFF2-40B4-BE49-F238E27FC236}">
                <a16:creationId xmlns:a16="http://schemas.microsoft.com/office/drawing/2014/main" id="{B59BC8CA-BDBC-D6F9-16AE-43C5145E38C0}"/>
              </a:ext>
            </a:extLst>
          </p:cNvPr>
          <p:cNvSpPr txBox="1"/>
          <p:nvPr/>
        </p:nvSpPr>
        <p:spPr>
          <a:xfrm>
            <a:off x="2819400" y="8578179"/>
            <a:ext cx="9144000" cy="400110"/>
          </a:xfrm>
          <a:prstGeom prst="rect">
            <a:avLst/>
          </a:prstGeom>
          <a:noFill/>
        </p:spPr>
        <p:txBody>
          <a:bodyPr wrap="square">
            <a:spAutoFit/>
          </a:bodyPr>
          <a:lstStyle/>
          <a:p>
            <a:r>
              <a:rPr lang="fr-FR" sz="2000" b="1" dirty="0"/>
              <a:t>Sources : </a:t>
            </a:r>
            <a:r>
              <a:rPr lang="fr-FR" sz="2000" b="1" dirty="0" err="1"/>
              <a:t>Glassdoor</a:t>
            </a:r>
            <a:r>
              <a:rPr lang="fr-FR" sz="2000" b="1" dirty="0"/>
              <a:t>, </a:t>
            </a:r>
            <a:r>
              <a:rPr lang="fr-FR" sz="2000" b="1" dirty="0" err="1"/>
              <a:t>PayScale</a:t>
            </a:r>
            <a:r>
              <a:rPr lang="fr-FR" sz="2000" b="1" dirty="0"/>
              <a:t>, Talent.com (consultés en juillet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2759900" y="1465712"/>
            <a:ext cx="9481408" cy="7355577"/>
          </a:xfrm>
          <a:custGeom>
            <a:avLst/>
            <a:gdLst/>
            <a:ahLst/>
            <a:cxnLst/>
            <a:rect l="l" t="t" r="r" b="b"/>
            <a:pathLst>
              <a:path w="9481408" h="7355577">
                <a:moveTo>
                  <a:pt x="0" y="0"/>
                </a:moveTo>
                <a:lnTo>
                  <a:pt x="9481408" y="0"/>
                </a:lnTo>
                <a:lnTo>
                  <a:pt x="9481408" y="7355576"/>
                </a:lnTo>
                <a:lnTo>
                  <a:pt x="0" y="7355576"/>
                </a:lnTo>
                <a:lnTo>
                  <a:pt x="0" y="0"/>
                </a:lnTo>
                <a:close/>
              </a:path>
            </a:pathLst>
          </a:custGeom>
          <a:blipFill>
            <a:blip r:embed="rId2"/>
            <a:stretch>
              <a:fillRect/>
            </a:stretch>
          </a:blipFill>
        </p:spPr>
        <p:txBody>
          <a:bodyPr/>
          <a:lstStyle/>
          <a:p>
            <a:endParaRPr lang="fr-FR" noProof="0" dirty="0"/>
          </a:p>
        </p:txBody>
      </p:sp>
      <p:sp>
        <p:nvSpPr>
          <p:cNvPr id="4" name="TextBox 4"/>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MODELE CONCEPTUEL DE DONNEES (MCD)</a:t>
            </a:r>
          </a:p>
        </p:txBody>
      </p:sp>
      <p:sp>
        <p:nvSpPr>
          <p:cNvPr id="7" name="Slide Number Placeholder 6">
            <a:extLst>
              <a:ext uri="{FF2B5EF4-FFF2-40B4-BE49-F238E27FC236}">
                <a16:creationId xmlns:a16="http://schemas.microsoft.com/office/drawing/2014/main" id="{5F51D7A6-D51F-E53C-40F8-B6F1A9034747}"/>
              </a:ext>
            </a:extLst>
          </p:cNvPr>
          <p:cNvSpPr>
            <a:spLocks noGrp="1"/>
          </p:cNvSpPr>
          <p:nvPr>
            <p:ph type="sldNum" sz="quarter" idx="12"/>
          </p:nvPr>
        </p:nvSpPr>
        <p:spPr>
          <a:xfrm>
            <a:off x="15773400" y="9479280"/>
            <a:ext cx="2133600" cy="365125"/>
          </a:xfrm>
        </p:spPr>
        <p:txBody>
          <a:bodyPr/>
          <a:lstStyle/>
          <a:p>
            <a:fld id="{B6F15528-21DE-4FAA-801E-634DDDAF4B2B}"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6516189" y="1482271"/>
            <a:ext cx="4874947" cy="7359879"/>
          </a:xfrm>
          <a:custGeom>
            <a:avLst/>
            <a:gdLst/>
            <a:ahLst/>
            <a:cxnLst/>
            <a:rect l="l" t="t" r="r" b="b"/>
            <a:pathLst>
              <a:path w="4874947" h="7359879">
                <a:moveTo>
                  <a:pt x="0" y="0"/>
                </a:moveTo>
                <a:lnTo>
                  <a:pt x="4874947" y="0"/>
                </a:lnTo>
                <a:lnTo>
                  <a:pt x="4874947" y="7359880"/>
                </a:lnTo>
                <a:lnTo>
                  <a:pt x="0" y="7359880"/>
                </a:lnTo>
                <a:lnTo>
                  <a:pt x="0" y="0"/>
                </a:lnTo>
                <a:close/>
              </a:path>
            </a:pathLst>
          </a:custGeom>
          <a:blipFill>
            <a:blip r:embed="rId2"/>
            <a:stretch>
              <a:fillRect t="-902" b="-902"/>
            </a:stretch>
          </a:blipFill>
        </p:spPr>
        <p:txBody>
          <a:bodyPr/>
          <a:lstStyle/>
          <a:p>
            <a:endParaRPr lang="fr-FR" noProof="0" dirty="0"/>
          </a:p>
        </p:txBody>
      </p:sp>
      <p:sp>
        <p:nvSpPr>
          <p:cNvPr id="4" name="TextBox 4"/>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MODELE LOGIQUE DE DONNEES (MLD)</a:t>
            </a:r>
          </a:p>
        </p:txBody>
      </p:sp>
      <p:sp>
        <p:nvSpPr>
          <p:cNvPr id="7" name="Slide Number Placeholder 6">
            <a:extLst>
              <a:ext uri="{FF2B5EF4-FFF2-40B4-BE49-F238E27FC236}">
                <a16:creationId xmlns:a16="http://schemas.microsoft.com/office/drawing/2014/main" id="{F87A377F-B1FE-2520-B518-65DA751CB1D2}"/>
              </a:ext>
            </a:extLst>
          </p:cNvPr>
          <p:cNvSpPr>
            <a:spLocks noGrp="1"/>
          </p:cNvSpPr>
          <p:nvPr>
            <p:ph type="sldNum" sz="quarter" idx="12"/>
          </p:nvPr>
        </p:nvSpPr>
        <p:spPr>
          <a:xfrm>
            <a:off x="15925800" y="9479280"/>
            <a:ext cx="2133600" cy="365125"/>
          </a:xfrm>
        </p:spPr>
        <p:txBody>
          <a:bodyPr/>
          <a:lstStyle/>
          <a:p>
            <a:fld id="{B6F15528-21DE-4FAA-801E-634DDDAF4B2B}"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4" name="TextBox 4"/>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DIAGRAMMES</a:t>
            </a:r>
          </a:p>
        </p:txBody>
      </p:sp>
      <p:sp>
        <p:nvSpPr>
          <p:cNvPr id="5" name="TextBox 5"/>
          <p:cNvSpPr txBox="1"/>
          <p:nvPr/>
        </p:nvSpPr>
        <p:spPr>
          <a:xfrm>
            <a:off x="1028700" y="1624432"/>
            <a:ext cx="16971336" cy="610167"/>
          </a:xfrm>
          <a:prstGeom prst="rect">
            <a:avLst/>
          </a:prstGeom>
        </p:spPr>
        <p:txBody>
          <a:bodyPr lIns="0" tIns="0" rIns="0" bIns="0" rtlCol="0" anchor="t">
            <a:spAutoFit/>
          </a:bodyPr>
          <a:lstStyle/>
          <a:p>
            <a:pPr marL="777240" lvl="1" indent="-388620" algn="l">
              <a:lnSpc>
                <a:spcPts val="5040"/>
              </a:lnSpc>
              <a:buFont typeface="Arial"/>
              <a:buChar char="•"/>
            </a:pPr>
            <a:r>
              <a:rPr lang="fr-FR" sz="3600" b="1" noProof="0" dirty="0">
                <a:solidFill>
                  <a:srgbClr val="EE3F1E"/>
                </a:solidFill>
                <a:latin typeface="Poppins Bold"/>
                <a:ea typeface="Poppins Bold"/>
                <a:cs typeface="Poppins Bold"/>
                <a:sym typeface="Poppins Bold"/>
              </a:rPr>
              <a:t>CONTEXTE</a:t>
            </a:r>
          </a:p>
        </p:txBody>
      </p:sp>
      <p:sp>
        <p:nvSpPr>
          <p:cNvPr id="8" name="Slide Number Placeholder 7">
            <a:extLst>
              <a:ext uri="{FF2B5EF4-FFF2-40B4-BE49-F238E27FC236}">
                <a16:creationId xmlns:a16="http://schemas.microsoft.com/office/drawing/2014/main" id="{203D6AC8-9979-354F-D187-AA9A6D9B54BA}"/>
              </a:ext>
            </a:extLst>
          </p:cNvPr>
          <p:cNvSpPr>
            <a:spLocks noGrp="1"/>
          </p:cNvSpPr>
          <p:nvPr>
            <p:ph type="sldNum" sz="quarter" idx="12"/>
          </p:nvPr>
        </p:nvSpPr>
        <p:spPr>
          <a:xfrm>
            <a:off x="15859905" y="9844405"/>
            <a:ext cx="2133600" cy="365125"/>
          </a:xfrm>
        </p:spPr>
        <p:txBody>
          <a:bodyPr/>
          <a:lstStyle/>
          <a:p>
            <a:fld id="{B6F15528-21DE-4FAA-801E-634DDDAF4B2B}" type="slidenum">
              <a:rPr lang="en-US" smtClean="0"/>
              <a:pPr/>
              <a:t>15</a:t>
            </a:fld>
            <a:endParaRPr lang="en-US"/>
          </a:p>
        </p:txBody>
      </p:sp>
      <p:pic>
        <p:nvPicPr>
          <p:cNvPr id="6" name="Image 5">
            <a:extLst>
              <a:ext uri="{FF2B5EF4-FFF2-40B4-BE49-F238E27FC236}">
                <a16:creationId xmlns:a16="http://schemas.microsoft.com/office/drawing/2014/main" id="{00C4CC07-A335-19ED-6D11-8487BFA8D575}"/>
              </a:ext>
            </a:extLst>
          </p:cNvPr>
          <p:cNvPicPr>
            <a:picLocks noChangeAspect="1"/>
          </p:cNvPicPr>
          <p:nvPr/>
        </p:nvPicPr>
        <p:blipFill>
          <a:blip r:embed="rId2"/>
          <a:stretch>
            <a:fillRect/>
          </a:stretch>
        </p:blipFill>
        <p:spPr>
          <a:xfrm>
            <a:off x="5029200" y="1624432"/>
            <a:ext cx="12232823" cy="703813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2573C485-169B-52EE-4B88-87CEB32D90C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0E0C9D-44A2-E8D0-300C-5F289C134309}"/>
              </a:ext>
            </a:extLst>
          </p:cNvPr>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4" name="TextBox 4">
            <a:extLst>
              <a:ext uri="{FF2B5EF4-FFF2-40B4-BE49-F238E27FC236}">
                <a16:creationId xmlns:a16="http://schemas.microsoft.com/office/drawing/2014/main" id="{00A28FB0-DA05-966F-8F09-0A302A6319CA}"/>
              </a:ext>
            </a:extLst>
          </p:cNvPr>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DIAGRAMMES</a:t>
            </a:r>
          </a:p>
        </p:txBody>
      </p:sp>
      <p:sp>
        <p:nvSpPr>
          <p:cNvPr id="5" name="TextBox 5">
            <a:extLst>
              <a:ext uri="{FF2B5EF4-FFF2-40B4-BE49-F238E27FC236}">
                <a16:creationId xmlns:a16="http://schemas.microsoft.com/office/drawing/2014/main" id="{B238DE43-3B97-2FA0-9C6C-B48F5D7951A7}"/>
              </a:ext>
            </a:extLst>
          </p:cNvPr>
          <p:cNvSpPr txBox="1"/>
          <p:nvPr/>
        </p:nvSpPr>
        <p:spPr>
          <a:xfrm>
            <a:off x="1028700" y="1624432"/>
            <a:ext cx="16971336" cy="651510"/>
          </a:xfrm>
          <a:prstGeom prst="rect">
            <a:avLst/>
          </a:prstGeom>
        </p:spPr>
        <p:txBody>
          <a:bodyPr lIns="0" tIns="0" rIns="0" bIns="0" rtlCol="0" anchor="t">
            <a:spAutoFit/>
          </a:bodyPr>
          <a:lstStyle/>
          <a:p>
            <a:pPr marL="777240" lvl="1" indent="-388620" algn="l">
              <a:lnSpc>
                <a:spcPts val="5040"/>
              </a:lnSpc>
              <a:buFont typeface="Arial"/>
              <a:buChar char="•"/>
            </a:pPr>
            <a:r>
              <a:rPr lang="fr-FR" sz="3600" b="1" noProof="0" dirty="0">
                <a:solidFill>
                  <a:srgbClr val="EE3F1E"/>
                </a:solidFill>
                <a:latin typeface="Poppins Bold"/>
                <a:ea typeface="Poppins Bold"/>
                <a:cs typeface="Poppins Bold"/>
                <a:sym typeface="Poppins Bold"/>
              </a:rPr>
              <a:t>CAS D’UTILISATION</a:t>
            </a:r>
          </a:p>
        </p:txBody>
      </p:sp>
      <p:sp>
        <p:nvSpPr>
          <p:cNvPr id="8" name="Slide Number Placeholder 7">
            <a:extLst>
              <a:ext uri="{FF2B5EF4-FFF2-40B4-BE49-F238E27FC236}">
                <a16:creationId xmlns:a16="http://schemas.microsoft.com/office/drawing/2014/main" id="{CFAFE6C9-0966-C4B1-702F-B4826EAFFD7B}"/>
              </a:ext>
            </a:extLst>
          </p:cNvPr>
          <p:cNvSpPr>
            <a:spLocks noGrp="1"/>
          </p:cNvSpPr>
          <p:nvPr>
            <p:ph type="sldNum" sz="quarter" idx="12"/>
          </p:nvPr>
        </p:nvSpPr>
        <p:spPr>
          <a:xfrm>
            <a:off x="15859905" y="9844405"/>
            <a:ext cx="2133600" cy="365125"/>
          </a:xfrm>
        </p:spPr>
        <p:txBody>
          <a:bodyPr/>
          <a:lstStyle/>
          <a:p>
            <a:fld id="{B6F15528-21DE-4FAA-801E-634DDDAF4B2B}" type="slidenum">
              <a:rPr lang="en-US" smtClean="0"/>
              <a:pPr/>
              <a:t>16</a:t>
            </a:fld>
            <a:endParaRPr lang="en-US"/>
          </a:p>
        </p:txBody>
      </p:sp>
      <p:pic>
        <p:nvPicPr>
          <p:cNvPr id="10" name="Picture 9">
            <a:extLst>
              <a:ext uri="{FF2B5EF4-FFF2-40B4-BE49-F238E27FC236}">
                <a16:creationId xmlns:a16="http://schemas.microsoft.com/office/drawing/2014/main" id="{1FBD0076-98D2-68C1-5D8D-6B4024636A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6996" y="2266417"/>
            <a:ext cx="6394008" cy="6972833"/>
          </a:xfrm>
          <a:prstGeom prst="rect">
            <a:avLst/>
          </a:prstGeom>
        </p:spPr>
      </p:pic>
    </p:spTree>
    <p:extLst>
      <p:ext uri="{BB962C8B-B14F-4D97-AF65-F5344CB8AC3E}">
        <p14:creationId xmlns:p14="http://schemas.microsoft.com/office/powerpoint/2010/main" val="1955560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4953000" y="1798852"/>
            <a:ext cx="9618771" cy="7161100"/>
          </a:xfrm>
          <a:custGeom>
            <a:avLst/>
            <a:gdLst/>
            <a:ahLst/>
            <a:cxnLst/>
            <a:rect l="l" t="t" r="r" b="b"/>
            <a:pathLst>
              <a:path w="9618771" h="8135394">
                <a:moveTo>
                  <a:pt x="0" y="0"/>
                </a:moveTo>
                <a:lnTo>
                  <a:pt x="9618772" y="0"/>
                </a:lnTo>
                <a:lnTo>
                  <a:pt x="9618772" y="8135395"/>
                </a:lnTo>
                <a:lnTo>
                  <a:pt x="0" y="8135395"/>
                </a:lnTo>
                <a:lnTo>
                  <a:pt x="0" y="0"/>
                </a:lnTo>
                <a:close/>
              </a:path>
            </a:pathLst>
          </a:custGeom>
          <a:blipFill>
            <a:blip r:embed="rId2"/>
            <a:stretch>
              <a:fillRect/>
            </a:stretch>
          </a:blipFill>
        </p:spPr>
        <p:txBody>
          <a:bodyPr/>
          <a:lstStyle/>
          <a:p>
            <a:endParaRPr lang="fr-FR" noProof="0" dirty="0"/>
          </a:p>
        </p:txBody>
      </p:sp>
      <p:sp>
        <p:nvSpPr>
          <p:cNvPr id="4" name="TextBox 4"/>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DIAGRAMMES</a:t>
            </a:r>
          </a:p>
        </p:txBody>
      </p:sp>
      <p:sp>
        <p:nvSpPr>
          <p:cNvPr id="5" name="TextBox 5"/>
          <p:cNvSpPr txBox="1"/>
          <p:nvPr/>
        </p:nvSpPr>
        <p:spPr>
          <a:xfrm>
            <a:off x="1028700" y="1624432"/>
            <a:ext cx="16971336" cy="651510"/>
          </a:xfrm>
          <a:prstGeom prst="rect">
            <a:avLst/>
          </a:prstGeom>
        </p:spPr>
        <p:txBody>
          <a:bodyPr lIns="0" tIns="0" rIns="0" bIns="0" rtlCol="0" anchor="t">
            <a:spAutoFit/>
          </a:bodyPr>
          <a:lstStyle/>
          <a:p>
            <a:pPr marL="777240" lvl="1" indent="-388620" algn="l">
              <a:lnSpc>
                <a:spcPts val="5040"/>
              </a:lnSpc>
              <a:buFont typeface="Arial"/>
              <a:buChar char="•"/>
            </a:pPr>
            <a:r>
              <a:rPr lang="fr-FR" sz="3600" b="1" noProof="0" dirty="0">
                <a:solidFill>
                  <a:srgbClr val="EE3F1E"/>
                </a:solidFill>
                <a:latin typeface="Poppins Bold"/>
                <a:ea typeface="Poppins Bold"/>
                <a:cs typeface="Poppins Bold"/>
                <a:sym typeface="Poppins Bold"/>
              </a:rPr>
              <a:t>INTERACTION</a:t>
            </a:r>
          </a:p>
        </p:txBody>
      </p:sp>
      <p:sp>
        <p:nvSpPr>
          <p:cNvPr id="8" name="Slide Number Placeholder 7">
            <a:extLst>
              <a:ext uri="{FF2B5EF4-FFF2-40B4-BE49-F238E27FC236}">
                <a16:creationId xmlns:a16="http://schemas.microsoft.com/office/drawing/2014/main" id="{BF4062CF-B7A1-88AE-A39B-B2EBE1AE11AD}"/>
              </a:ext>
            </a:extLst>
          </p:cNvPr>
          <p:cNvSpPr>
            <a:spLocks noGrp="1"/>
          </p:cNvSpPr>
          <p:nvPr>
            <p:ph type="sldNum" sz="quarter" idx="12"/>
          </p:nvPr>
        </p:nvSpPr>
        <p:spPr>
          <a:xfrm>
            <a:off x="16128274" y="9860734"/>
            <a:ext cx="2133600" cy="365125"/>
          </a:xfrm>
        </p:spPr>
        <p:txBody>
          <a:bodyPr/>
          <a:lstStyle/>
          <a:p>
            <a:fld id="{B6F15528-21DE-4FAA-801E-634DDDAF4B2B}"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1028700" y="2447493"/>
            <a:ext cx="16725900" cy="6550989"/>
          </a:xfrm>
          <a:custGeom>
            <a:avLst/>
            <a:gdLst/>
            <a:ahLst/>
            <a:cxnLst/>
            <a:rect l="l" t="t" r="r" b="b"/>
            <a:pathLst>
              <a:path w="20235600" h="3423189">
                <a:moveTo>
                  <a:pt x="0" y="0"/>
                </a:moveTo>
                <a:lnTo>
                  <a:pt x="20235600" y="0"/>
                </a:lnTo>
                <a:lnTo>
                  <a:pt x="20235600" y="3423189"/>
                </a:lnTo>
                <a:lnTo>
                  <a:pt x="0" y="3423189"/>
                </a:lnTo>
                <a:lnTo>
                  <a:pt x="0" y="0"/>
                </a:lnTo>
                <a:close/>
              </a:path>
            </a:pathLst>
          </a:custGeom>
          <a:blipFill>
            <a:blip r:embed="rId2"/>
            <a:stretch>
              <a:fillRect/>
            </a:stretch>
          </a:blipFill>
        </p:spPr>
        <p:txBody>
          <a:bodyPr/>
          <a:lstStyle/>
          <a:p>
            <a:endParaRPr lang="fr-FR" noProof="0" dirty="0"/>
          </a:p>
        </p:txBody>
      </p:sp>
      <p:sp>
        <p:nvSpPr>
          <p:cNvPr id="4" name="TextBox 4"/>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DIAGRAMMES</a:t>
            </a:r>
          </a:p>
        </p:txBody>
      </p:sp>
      <p:sp>
        <p:nvSpPr>
          <p:cNvPr id="5" name="TextBox 5"/>
          <p:cNvSpPr txBox="1"/>
          <p:nvPr/>
        </p:nvSpPr>
        <p:spPr>
          <a:xfrm>
            <a:off x="1028700" y="1624432"/>
            <a:ext cx="16971336" cy="651510"/>
          </a:xfrm>
          <a:prstGeom prst="rect">
            <a:avLst/>
          </a:prstGeom>
        </p:spPr>
        <p:txBody>
          <a:bodyPr lIns="0" tIns="0" rIns="0" bIns="0" rtlCol="0" anchor="t">
            <a:spAutoFit/>
          </a:bodyPr>
          <a:lstStyle/>
          <a:p>
            <a:pPr marL="777240" lvl="1" indent="-388620" algn="l">
              <a:lnSpc>
                <a:spcPts val="5040"/>
              </a:lnSpc>
              <a:buFont typeface="Arial"/>
              <a:buChar char="•"/>
            </a:pPr>
            <a:r>
              <a:rPr lang="fr-FR" sz="3600" b="1" noProof="0" dirty="0">
                <a:solidFill>
                  <a:srgbClr val="EE3F1E"/>
                </a:solidFill>
                <a:latin typeface="Poppins Bold"/>
                <a:ea typeface="Poppins Bold"/>
                <a:cs typeface="Poppins Bold"/>
                <a:sym typeface="Poppins Bold"/>
              </a:rPr>
              <a:t>CLASSES</a:t>
            </a:r>
          </a:p>
        </p:txBody>
      </p:sp>
      <p:sp>
        <p:nvSpPr>
          <p:cNvPr id="8" name="Slide Number Placeholder 7">
            <a:extLst>
              <a:ext uri="{FF2B5EF4-FFF2-40B4-BE49-F238E27FC236}">
                <a16:creationId xmlns:a16="http://schemas.microsoft.com/office/drawing/2014/main" id="{3C2AD451-804B-3BEE-108E-78FB4FD824F9}"/>
              </a:ext>
            </a:extLst>
          </p:cNvPr>
          <p:cNvSpPr>
            <a:spLocks noGrp="1"/>
          </p:cNvSpPr>
          <p:nvPr>
            <p:ph type="sldNum" sz="quarter" idx="12"/>
          </p:nvPr>
        </p:nvSpPr>
        <p:spPr>
          <a:xfrm>
            <a:off x="15866436" y="9821545"/>
            <a:ext cx="2133600" cy="365125"/>
          </a:xfrm>
        </p:spPr>
        <p:txBody>
          <a:bodyPr/>
          <a:lstStyle/>
          <a:p>
            <a:fld id="{B6F15528-21DE-4FAA-801E-634DDDAF4B2B}"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2895600" y="2247901"/>
            <a:ext cx="12031346" cy="6981823"/>
          </a:xfrm>
          <a:custGeom>
            <a:avLst/>
            <a:gdLst/>
            <a:ahLst/>
            <a:cxnLst/>
            <a:rect l="l" t="t" r="r" b="b"/>
            <a:pathLst>
              <a:path w="5782946" h="7670680">
                <a:moveTo>
                  <a:pt x="0" y="0"/>
                </a:moveTo>
                <a:lnTo>
                  <a:pt x="5782946" y="0"/>
                </a:lnTo>
                <a:lnTo>
                  <a:pt x="5782946" y="7670680"/>
                </a:lnTo>
                <a:lnTo>
                  <a:pt x="0" y="7670680"/>
                </a:lnTo>
                <a:lnTo>
                  <a:pt x="0" y="0"/>
                </a:lnTo>
                <a:close/>
              </a:path>
            </a:pathLst>
          </a:custGeom>
          <a:blipFill>
            <a:blip r:embed="rId2"/>
            <a:stretch>
              <a:fillRect/>
            </a:stretch>
          </a:blipFill>
        </p:spPr>
        <p:txBody>
          <a:bodyPr/>
          <a:lstStyle/>
          <a:p>
            <a:endParaRPr lang="fr-FR" noProof="0" dirty="0"/>
          </a:p>
        </p:txBody>
      </p:sp>
      <p:sp>
        <p:nvSpPr>
          <p:cNvPr id="4" name="TextBox 4"/>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DIAGRAMMES</a:t>
            </a:r>
          </a:p>
        </p:txBody>
      </p:sp>
      <p:sp>
        <p:nvSpPr>
          <p:cNvPr id="5" name="TextBox 5"/>
          <p:cNvSpPr txBox="1"/>
          <p:nvPr/>
        </p:nvSpPr>
        <p:spPr>
          <a:xfrm>
            <a:off x="1028700" y="1624432"/>
            <a:ext cx="16971336" cy="651510"/>
          </a:xfrm>
          <a:prstGeom prst="rect">
            <a:avLst/>
          </a:prstGeom>
        </p:spPr>
        <p:txBody>
          <a:bodyPr lIns="0" tIns="0" rIns="0" bIns="0" rtlCol="0" anchor="t">
            <a:spAutoFit/>
          </a:bodyPr>
          <a:lstStyle/>
          <a:p>
            <a:pPr marL="777240" lvl="1" indent="-388620" algn="l">
              <a:lnSpc>
                <a:spcPts val="5040"/>
              </a:lnSpc>
              <a:buFont typeface="Arial"/>
              <a:buChar char="•"/>
            </a:pPr>
            <a:r>
              <a:rPr lang="fr-FR" sz="3600" b="1" noProof="0" dirty="0">
                <a:solidFill>
                  <a:srgbClr val="EE3F1E"/>
                </a:solidFill>
                <a:latin typeface="Poppins Bold"/>
                <a:ea typeface="Poppins Bold"/>
                <a:cs typeface="Poppins Bold"/>
                <a:sym typeface="Poppins Bold"/>
              </a:rPr>
              <a:t>SEQUENCE - AUTHENTIFICATION</a:t>
            </a:r>
          </a:p>
        </p:txBody>
      </p:sp>
      <p:sp>
        <p:nvSpPr>
          <p:cNvPr id="8" name="Slide Number Placeholder 7">
            <a:extLst>
              <a:ext uri="{FF2B5EF4-FFF2-40B4-BE49-F238E27FC236}">
                <a16:creationId xmlns:a16="http://schemas.microsoft.com/office/drawing/2014/main" id="{451BA738-CB2B-611D-1BAF-1A95F70051EC}"/>
              </a:ext>
            </a:extLst>
          </p:cNvPr>
          <p:cNvSpPr>
            <a:spLocks noGrp="1"/>
          </p:cNvSpPr>
          <p:nvPr>
            <p:ph type="sldNum" sz="quarter" idx="12"/>
          </p:nvPr>
        </p:nvSpPr>
        <p:spPr>
          <a:xfrm>
            <a:off x="16002000" y="9885952"/>
            <a:ext cx="2133600" cy="365125"/>
          </a:xfrm>
        </p:spPr>
        <p:txBody>
          <a:bodyPr/>
          <a:lstStyle/>
          <a:p>
            <a:fld id="{B6F15528-21DE-4FAA-801E-634DDDAF4B2B}"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Freeform 3"/>
          <p:cNvSpPr/>
          <p:nvPr/>
        </p:nvSpPr>
        <p:spPr>
          <a:xfrm>
            <a:off x="2971800" y="2171700"/>
            <a:ext cx="11506200" cy="7058025"/>
          </a:xfrm>
          <a:custGeom>
            <a:avLst/>
            <a:gdLst/>
            <a:ahLst/>
            <a:cxnLst/>
            <a:rect l="l" t="t" r="r" b="b"/>
            <a:pathLst>
              <a:path w="7302290" h="7708334">
                <a:moveTo>
                  <a:pt x="0" y="0"/>
                </a:moveTo>
                <a:lnTo>
                  <a:pt x="7302290" y="0"/>
                </a:lnTo>
                <a:lnTo>
                  <a:pt x="7302290" y="7708334"/>
                </a:lnTo>
                <a:lnTo>
                  <a:pt x="0" y="7708334"/>
                </a:lnTo>
                <a:lnTo>
                  <a:pt x="0" y="0"/>
                </a:lnTo>
                <a:close/>
              </a:path>
            </a:pathLst>
          </a:custGeom>
          <a:blipFill>
            <a:blip r:embed="rId2"/>
            <a:stretch>
              <a:fillRect/>
            </a:stretch>
          </a:blipFill>
        </p:spPr>
        <p:txBody>
          <a:bodyPr/>
          <a:lstStyle/>
          <a:p>
            <a:endParaRPr lang="fr-FR" noProof="0" dirty="0"/>
          </a:p>
        </p:txBody>
      </p:sp>
      <p:sp>
        <p:nvSpPr>
          <p:cNvPr id="4" name="TextBox 4"/>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DIAGRAMMES</a:t>
            </a:r>
          </a:p>
        </p:txBody>
      </p:sp>
      <p:sp>
        <p:nvSpPr>
          <p:cNvPr id="5" name="TextBox 5"/>
          <p:cNvSpPr txBox="1"/>
          <p:nvPr/>
        </p:nvSpPr>
        <p:spPr>
          <a:xfrm>
            <a:off x="1028700" y="1624432"/>
            <a:ext cx="16971336" cy="651510"/>
          </a:xfrm>
          <a:prstGeom prst="rect">
            <a:avLst/>
          </a:prstGeom>
        </p:spPr>
        <p:txBody>
          <a:bodyPr lIns="0" tIns="0" rIns="0" bIns="0" rtlCol="0" anchor="t">
            <a:spAutoFit/>
          </a:bodyPr>
          <a:lstStyle/>
          <a:p>
            <a:pPr marL="777240" lvl="1" indent="-388620" algn="l">
              <a:lnSpc>
                <a:spcPts val="5040"/>
              </a:lnSpc>
              <a:buFont typeface="Arial"/>
              <a:buChar char="•"/>
            </a:pPr>
            <a:r>
              <a:rPr lang="fr-FR" sz="3600" b="1" noProof="0" dirty="0">
                <a:solidFill>
                  <a:srgbClr val="EE3F1E"/>
                </a:solidFill>
                <a:latin typeface="Poppins Bold"/>
                <a:ea typeface="Poppins Bold"/>
                <a:cs typeface="Poppins Bold"/>
                <a:sym typeface="Poppins Bold"/>
              </a:rPr>
              <a:t>SEQUENCE - RECEPTION</a:t>
            </a:r>
          </a:p>
        </p:txBody>
      </p:sp>
      <p:sp>
        <p:nvSpPr>
          <p:cNvPr id="8" name="Slide Number Placeholder 7">
            <a:extLst>
              <a:ext uri="{FF2B5EF4-FFF2-40B4-BE49-F238E27FC236}">
                <a16:creationId xmlns:a16="http://schemas.microsoft.com/office/drawing/2014/main" id="{BAFA4444-E131-9350-6E5A-EF657827ED03}"/>
              </a:ext>
            </a:extLst>
          </p:cNvPr>
          <p:cNvSpPr>
            <a:spLocks noGrp="1"/>
          </p:cNvSpPr>
          <p:nvPr>
            <p:ph type="sldNum" sz="quarter" idx="12"/>
          </p:nvPr>
        </p:nvSpPr>
        <p:spPr>
          <a:xfrm>
            <a:off x="15890385" y="9885952"/>
            <a:ext cx="2133600" cy="365125"/>
          </a:xfrm>
        </p:spPr>
        <p:txBody>
          <a:bodyPr/>
          <a:lstStyle/>
          <a:p>
            <a:fld id="{B6F15528-21DE-4FAA-801E-634DDDAF4B2B}"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F19AB0B8-EDDD-48EC-69D8-5A5ACB36A4B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962D408-DF5E-AF02-7733-350EC1DDE18A}"/>
              </a:ext>
            </a:extLst>
          </p:cNvPr>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4" name="TextBox 4">
            <a:extLst>
              <a:ext uri="{FF2B5EF4-FFF2-40B4-BE49-F238E27FC236}">
                <a16:creationId xmlns:a16="http://schemas.microsoft.com/office/drawing/2014/main" id="{F06A2A4E-3B60-9C8C-A71A-C185B1DB6E53}"/>
              </a:ext>
            </a:extLst>
          </p:cNvPr>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DIAGRAMMES</a:t>
            </a:r>
          </a:p>
        </p:txBody>
      </p:sp>
      <p:sp>
        <p:nvSpPr>
          <p:cNvPr id="5" name="TextBox 5">
            <a:extLst>
              <a:ext uri="{FF2B5EF4-FFF2-40B4-BE49-F238E27FC236}">
                <a16:creationId xmlns:a16="http://schemas.microsoft.com/office/drawing/2014/main" id="{3B0CBC06-43CD-0F44-DB3A-93F6FF51D5F0}"/>
              </a:ext>
            </a:extLst>
          </p:cNvPr>
          <p:cNvSpPr txBox="1"/>
          <p:nvPr/>
        </p:nvSpPr>
        <p:spPr>
          <a:xfrm>
            <a:off x="1028700" y="1624432"/>
            <a:ext cx="16971336" cy="610167"/>
          </a:xfrm>
          <a:prstGeom prst="rect">
            <a:avLst/>
          </a:prstGeom>
        </p:spPr>
        <p:txBody>
          <a:bodyPr lIns="0" tIns="0" rIns="0" bIns="0" rtlCol="0" anchor="t">
            <a:spAutoFit/>
          </a:bodyPr>
          <a:lstStyle/>
          <a:p>
            <a:pPr marL="777240" lvl="1" indent="-388620" algn="l">
              <a:lnSpc>
                <a:spcPts val="5040"/>
              </a:lnSpc>
              <a:buFont typeface="Arial"/>
              <a:buChar char="•"/>
            </a:pPr>
            <a:r>
              <a:rPr lang="fr-FR" sz="3600" b="1" dirty="0">
                <a:solidFill>
                  <a:srgbClr val="EE3F1E"/>
                </a:solidFill>
                <a:latin typeface="Poppins Bold"/>
                <a:ea typeface="Poppins Bold"/>
                <a:cs typeface="Poppins Bold"/>
                <a:sym typeface="Poppins Bold"/>
              </a:rPr>
              <a:t>COMMANDES</a:t>
            </a:r>
            <a:endParaRPr lang="fr-FR" sz="3600" b="1" noProof="0" dirty="0">
              <a:solidFill>
                <a:srgbClr val="EE3F1E"/>
              </a:solidFill>
              <a:latin typeface="Poppins Bold"/>
              <a:ea typeface="Poppins Bold"/>
              <a:cs typeface="Poppins Bold"/>
              <a:sym typeface="Poppins Bold"/>
            </a:endParaRPr>
          </a:p>
        </p:txBody>
      </p:sp>
      <p:sp>
        <p:nvSpPr>
          <p:cNvPr id="8" name="Slide Number Placeholder 7">
            <a:extLst>
              <a:ext uri="{FF2B5EF4-FFF2-40B4-BE49-F238E27FC236}">
                <a16:creationId xmlns:a16="http://schemas.microsoft.com/office/drawing/2014/main" id="{E441EB3C-2F7A-DB33-0689-FED87C5FCFD1}"/>
              </a:ext>
            </a:extLst>
          </p:cNvPr>
          <p:cNvSpPr>
            <a:spLocks noGrp="1"/>
          </p:cNvSpPr>
          <p:nvPr>
            <p:ph type="sldNum" sz="quarter" idx="12"/>
          </p:nvPr>
        </p:nvSpPr>
        <p:spPr>
          <a:xfrm>
            <a:off x="15890385" y="9885952"/>
            <a:ext cx="2133600" cy="365125"/>
          </a:xfrm>
        </p:spPr>
        <p:txBody>
          <a:bodyPr/>
          <a:lstStyle/>
          <a:p>
            <a:fld id="{B6F15528-21DE-4FAA-801E-634DDDAF4B2B}" type="slidenum">
              <a:rPr lang="en-US" smtClean="0"/>
              <a:pPr/>
              <a:t>21</a:t>
            </a:fld>
            <a:endParaRPr lang="en-US" dirty="0"/>
          </a:p>
        </p:txBody>
      </p:sp>
      <p:pic>
        <p:nvPicPr>
          <p:cNvPr id="7" name="Image 6">
            <a:extLst>
              <a:ext uri="{FF2B5EF4-FFF2-40B4-BE49-F238E27FC236}">
                <a16:creationId xmlns:a16="http://schemas.microsoft.com/office/drawing/2014/main" id="{185B897C-2298-FF82-1EBD-4E90EBCE1B85}"/>
              </a:ext>
            </a:extLst>
          </p:cNvPr>
          <p:cNvPicPr>
            <a:picLocks noChangeAspect="1"/>
          </p:cNvPicPr>
          <p:nvPr/>
        </p:nvPicPr>
        <p:blipFill>
          <a:blip r:embed="rId2"/>
          <a:stretch>
            <a:fillRect/>
          </a:stretch>
        </p:blipFill>
        <p:spPr>
          <a:xfrm>
            <a:off x="6046231" y="1548131"/>
            <a:ext cx="11860769" cy="7157719"/>
          </a:xfrm>
          <a:prstGeom prst="rect">
            <a:avLst/>
          </a:prstGeom>
        </p:spPr>
      </p:pic>
    </p:spTree>
    <p:extLst>
      <p:ext uri="{BB962C8B-B14F-4D97-AF65-F5344CB8AC3E}">
        <p14:creationId xmlns:p14="http://schemas.microsoft.com/office/powerpoint/2010/main" val="944911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3" name="TextBox 3"/>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ETUDE COMPARATIVE</a:t>
            </a:r>
          </a:p>
        </p:txBody>
      </p:sp>
      <p:sp>
        <p:nvSpPr>
          <p:cNvPr id="6" name="Slide Number Placeholder 5">
            <a:extLst>
              <a:ext uri="{FF2B5EF4-FFF2-40B4-BE49-F238E27FC236}">
                <a16:creationId xmlns:a16="http://schemas.microsoft.com/office/drawing/2014/main" id="{56F72627-2480-FD09-BF2C-75E04BA722D0}"/>
              </a:ext>
            </a:extLst>
          </p:cNvPr>
          <p:cNvSpPr>
            <a:spLocks noGrp="1"/>
          </p:cNvSpPr>
          <p:nvPr>
            <p:ph type="sldNum" sz="quarter" idx="12"/>
          </p:nvPr>
        </p:nvSpPr>
        <p:spPr>
          <a:xfrm>
            <a:off x="15925800" y="9844405"/>
            <a:ext cx="2133600" cy="365125"/>
          </a:xfrm>
        </p:spPr>
        <p:txBody>
          <a:bodyPr/>
          <a:lstStyle/>
          <a:p>
            <a:fld id="{B6F15528-21DE-4FAA-801E-634DDDAF4B2B}" type="slidenum">
              <a:rPr lang="en-US" smtClean="0"/>
              <a:pPr/>
              <a:t>22</a:t>
            </a:fld>
            <a:endParaRPr lang="en-US"/>
          </a:p>
        </p:txBody>
      </p:sp>
      <p:graphicFrame>
        <p:nvGraphicFramePr>
          <p:cNvPr id="7" name="Table 6">
            <a:extLst>
              <a:ext uri="{FF2B5EF4-FFF2-40B4-BE49-F238E27FC236}">
                <a16:creationId xmlns:a16="http://schemas.microsoft.com/office/drawing/2014/main" id="{203B4773-72C8-3267-F2DC-099BE58C90DA}"/>
              </a:ext>
            </a:extLst>
          </p:cNvPr>
          <p:cNvGraphicFramePr>
            <a:graphicFrameLocks noGrp="1"/>
          </p:cNvGraphicFramePr>
          <p:nvPr>
            <p:extLst>
              <p:ext uri="{D42A27DB-BD31-4B8C-83A1-F6EECF244321}">
                <p14:modId xmlns:p14="http://schemas.microsoft.com/office/powerpoint/2010/main" val="412737675"/>
              </p:ext>
            </p:extLst>
          </p:nvPr>
        </p:nvGraphicFramePr>
        <p:xfrm>
          <a:off x="1790700" y="1452880"/>
          <a:ext cx="14706600" cy="8420099"/>
        </p:xfrm>
        <a:graphic>
          <a:graphicData uri="http://schemas.openxmlformats.org/drawingml/2006/table">
            <a:tbl>
              <a:tblPr firstRow="1" firstCol="1" bandRow="1">
                <a:tableStyleId>{912C8C85-51F0-491E-9774-3900AFEF0FD7}</a:tableStyleId>
              </a:tblPr>
              <a:tblGrid>
                <a:gridCol w="2451100">
                  <a:extLst>
                    <a:ext uri="{9D8B030D-6E8A-4147-A177-3AD203B41FA5}">
                      <a16:colId xmlns:a16="http://schemas.microsoft.com/office/drawing/2014/main" val="2128873420"/>
                    </a:ext>
                  </a:extLst>
                </a:gridCol>
                <a:gridCol w="2451100">
                  <a:extLst>
                    <a:ext uri="{9D8B030D-6E8A-4147-A177-3AD203B41FA5}">
                      <a16:colId xmlns:a16="http://schemas.microsoft.com/office/drawing/2014/main" val="3037898250"/>
                    </a:ext>
                  </a:extLst>
                </a:gridCol>
                <a:gridCol w="2451100">
                  <a:extLst>
                    <a:ext uri="{9D8B030D-6E8A-4147-A177-3AD203B41FA5}">
                      <a16:colId xmlns:a16="http://schemas.microsoft.com/office/drawing/2014/main" val="2126989770"/>
                    </a:ext>
                  </a:extLst>
                </a:gridCol>
                <a:gridCol w="2451100">
                  <a:extLst>
                    <a:ext uri="{9D8B030D-6E8A-4147-A177-3AD203B41FA5}">
                      <a16:colId xmlns:a16="http://schemas.microsoft.com/office/drawing/2014/main" val="690484591"/>
                    </a:ext>
                  </a:extLst>
                </a:gridCol>
                <a:gridCol w="2451100">
                  <a:extLst>
                    <a:ext uri="{9D8B030D-6E8A-4147-A177-3AD203B41FA5}">
                      <a16:colId xmlns:a16="http://schemas.microsoft.com/office/drawing/2014/main" val="2714294154"/>
                    </a:ext>
                  </a:extLst>
                </a:gridCol>
                <a:gridCol w="2451100">
                  <a:extLst>
                    <a:ext uri="{9D8B030D-6E8A-4147-A177-3AD203B41FA5}">
                      <a16:colId xmlns:a16="http://schemas.microsoft.com/office/drawing/2014/main" val="1779880966"/>
                    </a:ext>
                  </a:extLst>
                </a:gridCol>
              </a:tblGrid>
              <a:tr h="450881">
                <a:tc>
                  <a:txBody>
                    <a:bodyPr/>
                    <a:lstStyle/>
                    <a:p>
                      <a:pPr marL="0" marR="0" algn="ctr">
                        <a:lnSpc>
                          <a:spcPct val="115000"/>
                        </a:lnSpc>
                        <a:spcAft>
                          <a:spcPts val="800"/>
                        </a:spcAft>
                        <a:buNone/>
                      </a:pPr>
                      <a:r>
                        <a:rPr lang="en-US" sz="1400" kern="0">
                          <a:effectLst/>
                        </a:rPr>
                        <a:t>Composant</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gn="ctr">
                        <a:lnSpc>
                          <a:spcPct val="115000"/>
                        </a:lnSpc>
                        <a:spcAft>
                          <a:spcPts val="800"/>
                        </a:spcAft>
                        <a:buNone/>
                      </a:pPr>
                      <a:r>
                        <a:rPr lang="en-US" sz="1400" kern="0">
                          <a:effectLst/>
                        </a:rPr>
                        <a:t>Technologie retenue</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gn="ctr">
                        <a:lnSpc>
                          <a:spcPct val="115000"/>
                        </a:lnSpc>
                        <a:spcAft>
                          <a:spcPts val="800"/>
                        </a:spcAft>
                        <a:buNone/>
                      </a:pPr>
                      <a:r>
                        <a:rPr lang="en-US" sz="1400" kern="0">
                          <a:effectLst/>
                        </a:rPr>
                        <a:t>Alternatives plausibles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gn="ctr">
                        <a:lnSpc>
                          <a:spcPct val="115000"/>
                        </a:lnSpc>
                        <a:spcAft>
                          <a:spcPts val="800"/>
                        </a:spcAft>
                        <a:buNone/>
                      </a:pPr>
                      <a:r>
                        <a:rPr lang="en-US" sz="1400" kern="0">
                          <a:effectLst/>
                        </a:rPr>
                        <a:t>Avantages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gn="ctr">
                        <a:lnSpc>
                          <a:spcPct val="115000"/>
                        </a:lnSpc>
                        <a:spcAft>
                          <a:spcPts val="800"/>
                        </a:spcAft>
                        <a:buNone/>
                      </a:pPr>
                      <a:r>
                        <a:rPr lang="en-US" sz="1400" kern="0">
                          <a:effectLst/>
                        </a:rPr>
                        <a:t>Inconvénients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gn="ctr">
                        <a:lnSpc>
                          <a:spcPct val="115000"/>
                        </a:lnSpc>
                        <a:spcAft>
                          <a:spcPts val="800"/>
                        </a:spcAft>
                        <a:buNone/>
                      </a:pPr>
                      <a:r>
                        <a:rPr lang="en-US" sz="1400" kern="0">
                          <a:effectLst/>
                        </a:rPr>
                        <a:t>Justification</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extLst>
                  <a:ext uri="{0D108BD9-81ED-4DB2-BD59-A6C34878D82A}">
                    <a16:rowId xmlns:a16="http://schemas.microsoft.com/office/drawing/2014/main" val="3485656017"/>
                  </a:ext>
                </a:extLst>
              </a:tr>
              <a:tr h="1675484">
                <a:tc>
                  <a:txBody>
                    <a:bodyPr/>
                    <a:lstStyle/>
                    <a:p>
                      <a:pPr marL="0" marR="0">
                        <a:lnSpc>
                          <a:spcPct val="115000"/>
                        </a:lnSpc>
                        <a:spcAft>
                          <a:spcPts val="800"/>
                        </a:spcAft>
                        <a:buNone/>
                      </a:pPr>
                      <a:r>
                        <a:rPr lang="en-US" sz="1400" kern="0">
                          <a:effectLst/>
                        </a:rPr>
                        <a:t>Langage de programmation</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a:effectLst/>
                        </a:rPr>
                        <a:t>Python 3</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a:effectLst/>
                        </a:rPr>
                        <a:t>Java, C#, C++</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fr-FR" sz="1400" kern="0" dirty="0">
                          <a:effectLst/>
                        </a:rPr>
                        <a:t>Syntaxe simple, développement rapide, nombreuses bibliothèques, excellente intégration avec PostgreSQL</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fr-FR" sz="1400" kern="0">
                          <a:effectLst/>
                        </a:rPr>
                        <a:t>Performances inférieures à Java/C++ pour les traitements intensifs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err="1">
                          <a:effectLst/>
                        </a:rPr>
                        <a:t>Adapté</a:t>
                      </a:r>
                      <a:r>
                        <a:rPr lang="en-US" sz="1400" kern="0" dirty="0">
                          <a:effectLst/>
                        </a:rPr>
                        <a:t> à un prototype </a:t>
                      </a:r>
                      <a:r>
                        <a:rPr lang="en-US" sz="1400" kern="0" dirty="0" err="1">
                          <a:effectLst/>
                        </a:rPr>
                        <a:t>universitaire</a:t>
                      </a:r>
                      <a:r>
                        <a:rPr lang="en-US" sz="1400" kern="0" dirty="0">
                          <a:effectLst/>
                        </a:rPr>
                        <a:t> </a:t>
                      </a:r>
                      <a:r>
                        <a:rPr lang="en-US" sz="1400" kern="0" dirty="0" err="1">
                          <a:effectLst/>
                        </a:rPr>
                        <a:t>où</a:t>
                      </a:r>
                      <a:r>
                        <a:rPr lang="en-US" sz="1400" kern="0" dirty="0">
                          <a:effectLst/>
                        </a:rPr>
                        <a:t> la </a:t>
                      </a:r>
                      <a:r>
                        <a:rPr lang="en-US" sz="1400" kern="0" dirty="0" err="1">
                          <a:effectLst/>
                        </a:rPr>
                        <a:t>rapidité</a:t>
                      </a:r>
                      <a:r>
                        <a:rPr lang="en-US" sz="1400" kern="0" dirty="0">
                          <a:effectLst/>
                        </a:rPr>
                        <a:t> de </a:t>
                      </a:r>
                      <a:r>
                        <a:rPr lang="en-US" sz="1400" kern="0" dirty="0" err="1">
                          <a:effectLst/>
                        </a:rPr>
                        <a:t>développement</a:t>
                      </a:r>
                      <a:r>
                        <a:rPr lang="en-US" sz="1400" kern="0" dirty="0">
                          <a:effectLst/>
                        </a:rPr>
                        <a:t> est </a:t>
                      </a:r>
                      <a:r>
                        <a:rPr lang="en-US" sz="1400" kern="0" dirty="0" err="1">
                          <a:effectLst/>
                        </a:rPr>
                        <a:t>prioritaire</a:t>
                      </a:r>
                      <a:r>
                        <a:rPr lang="en-US" sz="1400" kern="0" dirty="0">
                          <a:effectLst/>
                        </a:rPr>
                        <a:t>.</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extLst>
                  <a:ext uri="{0D108BD9-81ED-4DB2-BD59-A6C34878D82A}">
                    <a16:rowId xmlns:a16="http://schemas.microsoft.com/office/drawing/2014/main" val="3864969836"/>
                  </a:ext>
                </a:extLst>
              </a:tr>
              <a:tr h="1675484">
                <a:tc>
                  <a:txBody>
                    <a:bodyPr/>
                    <a:lstStyle/>
                    <a:p>
                      <a:pPr marL="0" marR="0">
                        <a:lnSpc>
                          <a:spcPct val="115000"/>
                        </a:lnSpc>
                        <a:spcAft>
                          <a:spcPts val="800"/>
                        </a:spcAft>
                        <a:buNone/>
                      </a:pPr>
                      <a:r>
                        <a:rPr lang="en-US" sz="1400" kern="0">
                          <a:effectLst/>
                        </a:rPr>
                        <a:t>Interface graphique</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PySide6 (Qt)</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err="1">
                          <a:effectLst/>
                        </a:rPr>
                        <a:t>Tkinter</a:t>
                      </a:r>
                      <a:r>
                        <a:rPr lang="en-US" sz="1400" kern="0" dirty="0">
                          <a:effectLst/>
                        </a:rPr>
                        <a:t>, JavaFX, Electron, PyQt6</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a:effectLst/>
                        </a:rPr>
                        <a:t>Interface </a:t>
                      </a:r>
                      <a:r>
                        <a:rPr lang="en-US" sz="1400" kern="0" dirty="0" err="1">
                          <a:effectLst/>
                        </a:rPr>
                        <a:t>moderne</a:t>
                      </a:r>
                      <a:r>
                        <a:rPr lang="en-US" sz="1400" kern="0" dirty="0">
                          <a:effectLst/>
                        </a:rPr>
                        <a:t>, widgets riches, architecture MVC, </a:t>
                      </a:r>
                      <a:r>
                        <a:rPr lang="en-US" sz="1400" kern="0" dirty="0" err="1">
                          <a:effectLst/>
                        </a:rPr>
                        <a:t>multiplateforme</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Courbe d’apprentissage plus importante que Tkinter</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err="1">
                          <a:effectLst/>
                        </a:rPr>
                        <a:t>Permet</a:t>
                      </a:r>
                      <a:r>
                        <a:rPr lang="en-US" sz="1400" kern="0" dirty="0">
                          <a:effectLst/>
                        </a:rPr>
                        <a:t> de </a:t>
                      </a:r>
                      <a:r>
                        <a:rPr lang="en-US" sz="1400" kern="0" dirty="0" err="1">
                          <a:effectLst/>
                        </a:rPr>
                        <a:t>réaliser</a:t>
                      </a:r>
                      <a:r>
                        <a:rPr lang="en-US" sz="1400" kern="0" dirty="0">
                          <a:effectLst/>
                        </a:rPr>
                        <a:t> </a:t>
                      </a:r>
                      <a:r>
                        <a:rPr lang="en-US" sz="1400" kern="0" dirty="0" err="1">
                          <a:effectLst/>
                        </a:rPr>
                        <a:t>une</a:t>
                      </a:r>
                      <a:r>
                        <a:rPr lang="en-US" sz="1400" kern="0" dirty="0">
                          <a:effectLst/>
                        </a:rPr>
                        <a:t> interface </a:t>
                      </a:r>
                      <a:r>
                        <a:rPr lang="en-US" sz="1400" kern="0" dirty="0" err="1">
                          <a:effectLst/>
                        </a:rPr>
                        <a:t>professionnelle</a:t>
                      </a:r>
                      <a:r>
                        <a:rPr lang="en-US" sz="1400" kern="0" dirty="0">
                          <a:effectLst/>
                        </a:rPr>
                        <a:t> </a:t>
                      </a:r>
                      <a:r>
                        <a:rPr lang="en-US" sz="1400" kern="0" dirty="0" err="1">
                          <a:effectLst/>
                        </a:rPr>
                        <a:t>répondant</a:t>
                      </a:r>
                      <a:r>
                        <a:rPr lang="en-US" sz="1400" kern="0" dirty="0">
                          <a:effectLst/>
                        </a:rPr>
                        <a:t> aux exigences </a:t>
                      </a:r>
                      <a:r>
                        <a:rPr lang="en-US" sz="1400" kern="0" dirty="0" err="1">
                          <a:effectLst/>
                        </a:rPr>
                        <a:t>ergonomiques</a:t>
                      </a:r>
                      <a:r>
                        <a:rPr lang="en-US" sz="1400" kern="0" dirty="0">
                          <a:effectLst/>
                        </a:rPr>
                        <a:t> du </a:t>
                      </a:r>
                      <a:r>
                        <a:rPr lang="en-US" sz="1400" kern="0" dirty="0" err="1">
                          <a:effectLst/>
                        </a:rPr>
                        <a:t>projet</a:t>
                      </a:r>
                      <a:r>
                        <a:rPr lang="en-US" sz="1400" kern="0" dirty="0">
                          <a:effectLst/>
                        </a:rPr>
                        <a:t>.</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extLst>
                  <a:ext uri="{0D108BD9-81ED-4DB2-BD59-A6C34878D82A}">
                    <a16:rowId xmlns:a16="http://schemas.microsoft.com/office/drawing/2014/main" val="2413275075"/>
                  </a:ext>
                </a:extLst>
              </a:tr>
              <a:tr h="1471383">
                <a:tc>
                  <a:txBody>
                    <a:bodyPr/>
                    <a:lstStyle/>
                    <a:p>
                      <a:pPr marL="0" marR="0">
                        <a:lnSpc>
                          <a:spcPct val="115000"/>
                        </a:lnSpc>
                        <a:spcAft>
                          <a:spcPts val="800"/>
                        </a:spcAft>
                        <a:buNone/>
                      </a:pPr>
                      <a:r>
                        <a:rPr lang="en-US" sz="1400" kern="0">
                          <a:effectLst/>
                        </a:rPr>
                        <a:t>Interface CLI/TBI</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Typer + Rich + Textual</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err="1">
                          <a:effectLst/>
                        </a:rPr>
                        <a:t>argparse</a:t>
                      </a:r>
                      <a:r>
                        <a:rPr lang="en-US" sz="1400" kern="0" dirty="0">
                          <a:effectLst/>
                        </a:rPr>
                        <a:t>, Click, curses</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Syntaxe claire, excellente expérience utilisateur, interfaces textuelles modernes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Dépendances supplémentaires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Correspond parfaitement à l’application d’automatisation demandée dans le mandat.</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extLst>
                  <a:ext uri="{0D108BD9-81ED-4DB2-BD59-A6C34878D82A}">
                    <a16:rowId xmlns:a16="http://schemas.microsoft.com/office/drawing/2014/main" val="847434401"/>
                  </a:ext>
                </a:extLst>
              </a:tr>
              <a:tr h="1675484">
                <a:tc>
                  <a:txBody>
                    <a:bodyPr/>
                    <a:lstStyle/>
                    <a:p>
                      <a:pPr marL="0" marR="0">
                        <a:lnSpc>
                          <a:spcPct val="115000"/>
                        </a:lnSpc>
                        <a:spcAft>
                          <a:spcPts val="800"/>
                        </a:spcAft>
                        <a:buNone/>
                      </a:pPr>
                      <a:r>
                        <a:rPr lang="en-US" sz="1400" kern="0">
                          <a:effectLst/>
                        </a:rPr>
                        <a:t>Base de données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PostgreSQL</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a:effectLst/>
                        </a:rPr>
                        <a:t>MySQL, MariaDB, SQLite</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Très robuste, conforme SQL, vues, triggers, procédures stockées, contraintes avancées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Installation plus complexe que SQLite</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Répond parfaitement aux exigences du mandat concernant les scripts SQL, vues, routines et déclencheurs.  </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extLst>
                  <a:ext uri="{0D108BD9-81ED-4DB2-BD59-A6C34878D82A}">
                    <a16:rowId xmlns:a16="http://schemas.microsoft.com/office/drawing/2014/main" val="871480310"/>
                  </a:ext>
                </a:extLst>
              </a:tr>
              <a:tr h="1471383">
                <a:tc>
                  <a:txBody>
                    <a:bodyPr/>
                    <a:lstStyle/>
                    <a:p>
                      <a:pPr marL="0" marR="0">
                        <a:lnSpc>
                          <a:spcPct val="115000"/>
                        </a:lnSpc>
                        <a:spcAft>
                          <a:spcPts val="800"/>
                        </a:spcAft>
                        <a:buNone/>
                      </a:pPr>
                      <a:r>
                        <a:rPr lang="en-US" sz="1400" kern="0">
                          <a:effectLst/>
                        </a:rPr>
                        <a:t>Accès BD</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a:effectLst/>
                        </a:rPr>
                        <a:t>psycopg2</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err="1">
                          <a:effectLst/>
                        </a:rPr>
                        <a:t>SQLAlchemy</a:t>
                      </a:r>
                      <a:r>
                        <a:rPr lang="en-US" sz="1400" kern="0" dirty="0">
                          <a:effectLst/>
                        </a:rPr>
                        <a:t>, pg8000</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Accès direct aux fonctionnalités PostgreSQL, rapide, contrôle précis des requêtes</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a:effectLst/>
                        </a:rPr>
                        <a:t>Plus de code qu’un ORM</a:t>
                      </a:r>
                      <a:endParaRPr lang="en-US" sz="1400" kern="10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tc>
                  <a:txBody>
                    <a:bodyPr/>
                    <a:lstStyle/>
                    <a:p>
                      <a:pPr marL="0" marR="0">
                        <a:lnSpc>
                          <a:spcPct val="115000"/>
                        </a:lnSpc>
                        <a:spcAft>
                          <a:spcPts val="800"/>
                        </a:spcAft>
                        <a:buNone/>
                      </a:pPr>
                      <a:r>
                        <a:rPr lang="en-US" sz="1400" kern="0" dirty="0">
                          <a:effectLst/>
                        </a:rPr>
                        <a:t>Le </a:t>
                      </a:r>
                      <a:r>
                        <a:rPr lang="en-US" sz="1400" kern="0" dirty="0" err="1">
                          <a:effectLst/>
                        </a:rPr>
                        <a:t>projet</a:t>
                      </a:r>
                      <a:r>
                        <a:rPr lang="en-US" sz="1400" kern="0" dirty="0">
                          <a:effectLst/>
                        </a:rPr>
                        <a:t> </a:t>
                      </a:r>
                      <a:r>
                        <a:rPr lang="en-US" sz="1400" kern="0" dirty="0" err="1">
                          <a:effectLst/>
                        </a:rPr>
                        <a:t>manipule</a:t>
                      </a:r>
                      <a:r>
                        <a:rPr lang="en-US" sz="1400" kern="0" dirty="0">
                          <a:effectLst/>
                        </a:rPr>
                        <a:t> déjà des scripts SQL </a:t>
                      </a:r>
                      <a:r>
                        <a:rPr lang="en-US" sz="1400" kern="0" dirty="0" err="1">
                          <a:effectLst/>
                        </a:rPr>
                        <a:t>complets</a:t>
                      </a:r>
                      <a:r>
                        <a:rPr lang="en-US" sz="1400" kern="0" dirty="0">
                          <a:effectLst/>
                        </a:rPr>
                        <a:t>. Un </a:t>
                      </a:r>
                      <a:r>
                        <a:rPr lang="en-US" sz="1400" kern="0" dirty="0" err="1">
                          <a:effectLst/>
                        </a:rPr>
                        <a:t>accès</a:t>
                      </a:r>
                      <a:r>
                        <a:rPr lang="en-US" sz="1400" kern="0" dirty="0">
                          <a:effectLst/>
                        </a:rPr>
                        <a:t> </a:t>
                      </a:r>
                      <a:r>
                        <a:rPr lang="en-US" sz="1400" kern="0" dirty="0" err="1">
                          <a:effectLst/>
                        </a:rPr>
                        <a:t>natif</a:t>
                      </a:r>
                      <a:r>
                        <a:rPr lang="en-US" sz="1400" kern="0" dirty="0">
                          <a:effectLst/>
                        </a:rPr>
                        <a:t> est </a:t>
                      </a:r>
                      <a:r>
                        <a:rPr lang="en-US" sz="1400" kern="0" dirty="0" err="1">
                          <a:effectLst/>
                        </a:rPr>
                        <a:t>donc</a:t>
                      </a:r>
                      <a:r>
                        <a:rPr lang="en-US" sz="1400" kern="0" dirty="0">
                          <a:effectLst/>
                        </a:rPr>
                        <a:t> plus </a:t>
                      </a:r>
                      <a:r>
                        <a:rPr lang="en-US" sz="1400" kern="0" dirty="0" err="1">
                          <a:effectLst/>
                        </a:rPr>
                        <a:t>cohérent</a:t>
                      </a:r>
                      <a:r>
                        <a:rPr lang="en-US" sz="1400" kern="0" dirty="0">
                          <a:effectLst/>
                        </a:rPr>
                        <a:t>.</a:t>
                      </a:r>
                      <a:endParaRPr lang="en-US" sz="1400" kern="100" dirty="0">
                        <a:effectLst/>
                        <a:latin typeface="Garet" panose="020B0604020202020204" charset="0"/>
                        <a:ea typeface="Times New Roman" panose="02020603050405020304" pitchFamily="18" charset="0"/>
                        <a:cs typeface="Times New Roman" panose="02020603050405020304" pitchFamily="18" charset="0"/>
                      </a:endParaRPr>
                    </a:p>
                  </a:txBody>
                  <a:tcPr marL="57192" marR="57192" marT="38128" marB="38128" anchor="ctr"/>
                </a:tc>
                <a:extLst>
                  <a:ext uri="{0D108BD9-81ED-4DB2-BD59-A6C34878D82A}">
                    <a16:rowId xmlns:a16="http://schemas.microsoft.com/office/drawing/2014/main" val="318129551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TextBox 3"/>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DEMONSTRATION</a:t>
            </a:r>
          </a:p>
        </p:txBody>
      </p:sp>
      <p:sp>
        <p:nvSpPr>
          <p:cNvPr id="6" name="Slide Number Placeholder 5">
            <a:extLst>
              <a:ext uri="{FF2B5EF4-FFF2-40B4-BE49-F238E27FC236}">
                <a16:creationId xmlns:a16="http://schemas.microsoft.com/office/drawing/2014/main" id="{4B83AF6E-E3D2-0F6B-6789-6AF070FF4BCA}"/>
              </a:ext>
            </a:extLst>
          </p:cNvPr>
          <p:cNvSpPr>
            <a:spLocks noGrp="1"/>
          </p:cNvSpPr>
          <p:nvPr>
            <p:ph type="sldNum" sz="quarter" idx="12"/>
          </p:nvPr>
        </p:nvSpPr>
        <p:spPr>
          <a:xfrm>
            <a:off x="15925800" y="9844405"/>
            <a:ext cx="2133600" cy="365125"/>
          </a:xfrm>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TextBox 3"/>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BILAN ET CONCLUSION</a:t>
            </a:r>
          </a:p>
        </p:txBody>
      </p:sp>
      <p:sp>
        <p:nvSpPr>
          <p:cNvPr id="4" name="TextBox 4"/>
          <p:cNvSpPr txBox="1"/>
          <p:nvPr/>
        </p:nvSpPr>
        <p:spPr>
          <a:xfrm>
            <a:off x="2210497" y="2336800"/>
            <a:ext cx="13452673" cy="2454275"/>
          </a:xfrm>
          <a:prstGeom prst="rect">
            <a:avLst/>
          </a:prstGeom>
        </p:spPr>
        <p:txBody>
          <a:bodyPr lIns="0" tIns="0" rIns="0" bIns="0" rtlCol="0" anchor="t">
            <a:spAutoFit/>
          </a:bodyPr>
          <a:lstStyle/>
          <a:p>
            <a:pPr algn="l">
              <a:lnSpc>
                <a:spcPts val="2800"/>
              </a:lnSpc>
            </a:pPr>
            <a:r>
              <a:rPr lang="fr-FR" sz="2000" noProof="0" dirty="0">
                <a:solidFill>
                  <a:srgbClr val="000000"/>
                </a:solidFill>
                <a:latin typeface="Garet"/>
                <a:ea typeface="Garet"/>
                <a:cs typeface="Garet"/>
                <a:sym typeface="Garet"/>
              </a:rPr>
              <a:t>Les objectifs fixés ont été atteints avec la réalisation d'un prototype fonctionnel de Système de Gestion d'Entrepôt (SGE).</a:t>
            </a:r>
          </a:p>
          <a:p>
            <a:pPr algn="l">
              <a:lnSpc>
                <a:spcPts val="2800"/>
              </a:lnSpc>
            </a:pPr>
            <a:r>
              <a:rPr lang="fr-FR" sz="2000" noProof="0" dirty="0">
                <a:solidFill>
                  <a:srgbClr val="000000"/>
                </a:solidFill>
                <a:latin typeface="Garet"/>
                <a:ea typeface="Garet"/>
                <a:cs typeface="Garet"/>
                <a:sym typeface="Garet"/>
              </a:rPr>
              <a:t>Une base de données relationnelle robuste a été conçue sous PostgreSQL.</a:t>
            </a:r>
          </a:p>
          <a:p>
            <a:pPr algn="l">
              <a:lnSpc>
                <a:spcPts val="2800"/>
              </a:lnSpc>
            </a:pPr>
            <a:r>
              <a:rPr lang="fr-FR" sz="2000" noProof="0" dirty="0">
                <a:solidFill>
                  <a:srgbClr val="000000"/>
                </a:solidFill>
                <a:latin typeface="Garet"/>
                <a:ea typeface="Garet"/>
                <a:cs typeface="Garet"/>
                <a:sym typeface="Garet"/>
              </a:rPr>
              <a:t>Une interface graphique ergonomique a été développée en Python (PySide6).</a:t>
            </a:r>
          </a:p>
          <a:p>
            <a:pPr algn="l">
              <a:lnSpc>
                <a:spcPts val="2800"/>
              </a:lnSpc>
            </a:pPr>
            <a:r>
              <a:rPr lang="fr-FR" sz="2000" noProof="0" dirty="0">
                <a:solidFill>
                  <a:srgbClr val="000000"/>
                </a:solidFill>
                <a:latin typeface="Garet"/>
                <a:ea typeface="Garet"/>
                <a:cs typeface="Garet"/>
                <a:sym typeface="Garet"/>
              </a:rPr>
              <a:t>Une interface en ligne de commande (CLI) a été mise en place pour automatiser certaines opérations.</a:t>
            </a:r>
          </a:p>
          <a:p>
            <a:pPr algn="l">
              <a:lnSpc>
                <a:spcPts val="2800"/>
              </a:lnSpc>
              <a:spcBef>
                <a:spcPct val="0"/>
              </a:spcBef>
            </a:pPr>
            <a:r>
              <a:rPr lang="fr-FR" sz="2000" noProof="0" dirty="0">
                <a:solidFill>
                  <a:srgbClr val="000000"/>
                </a:solidFill>
                <a:latin typeface="Garet"/>
                <a:ea typeface="Garet"/>
                <a:cs typeface="Garet"/>
                <a:sym typeface="Garet"/>
              </a:rPr>
              <a:t>Les principales fonctionnalités (authentification, gestion des produits, stocks, réceptions, expéditions et rapports) ont été développées et validées par des tests.</a:t>
            </a:r>
          </a:p>
        </p:txBody>
      </p:sp>
      <p:sp>
        <p:nvSpPr>
          <p:cNvPr id="5" name="TextBox 5"/>
          <p:cNvSpPr txBox="1"/>
          <p:nvPr/>
        </p:nvSpPr>
        <p:spPr>
          <a:xfrm>
            <a:off x="2210497" y="5676900"/>
            <a:ext cx="13452673" cy="1044575"/>
          </a:xfrm>
          <a:prstGeom prst="rect">
            <a:avLst/>
          </a:prstGeom>
        </p:spPr>
        <p:txBody>
          <a:bodyPr lIns="0" tIns="0" rIns="0" bIns="0" rtlCol="0" anchor="t">
            <a:spAutoFit/>
          </a:bodyPr>
          <a:lstStyle/>
          <a:p>
            <a:pPr algn="l">
              <a:lnSpc>
                <a:spcPts val="2800"/>
              </a:lnSpc>
              <a:spcBef>
                <a:spcPct val="0"/>
              </a:spcBef>
            </a:pPr>
            <a:r>
              <a:rPr lang="fr-FR" sz="2000" noProof="0" dirty="0">
                <a:solidFill>
                  <a:srgbClr val="000000"/>
                </a:solidFill>
                <a:latin typeface="Garet"/>
                <a:ea typeface="Garet"/>
                <a:cs typeface="Garet"/>
                <a:sym typeface="Garet"/>
              </a:rPr>
              <a:t>Le projet a permis de concevoir et de développer un prototype répondant aux principaux besoins de gestion d'un entrepôt. Il met en œuvre des méthodes d'analyse, de conception et de développement logiciel tout en garantissant l'intégrité des données et la traçabilité des opérations logistiques.</a:t>
            </a:r>
          </a:p>
        </p:txBody>
      </p:sp>
      <p:sp>
        <p:nvSpPr>
          <p:cNvPr id="8" name="Slide Number Placeholder 7">
            <a:extLst>
              <a:ext uri="{FF2B5EF4-FFF2-40B4-BE49-F238E27FC236}">
                <a16:creationId xmlns:a16="http://schemas.microsoft.com/office/drawing/2014/main" id="{8FAB01F9-8482-1D45-9A1B-FDBC1ECBE36A}"/>
              </a:ext>
            </a:extLst>
          </p:cNvPr>
          <p:cNvSpPr>
            <a:spLocks noGrp="1"/>
          </p:cNvSpPr>
          <p:nvPr>
            <p:ph type="sldNum" sz="quarter" idx="12"/>
          </p:nvPr>
        </p:nvSpPr>
        <p:spPr>
          <a:xfrm>
            <a:off x="15663170" y="9858556"/>
            <a:ext cx="2133600" cy="365125"/>
          </a:xfrm>
        </p:spPr>
        <p:txBody>
          <a:bodyPr/>
          <a:lstStyle/>
          <a:p>
            <a:fld id="{B6F15528-21DE-4FAA-801E-634DDDAF4B2B}"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AutoShape 2"/>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3" name="TextBox 3"/>
          <p:cNvSpPr txBox="1"/>
          <p:nvPr/>
        </p:nvSpPr>
        <p:spPr>
          <a:xfrm>
            <a:off x="658332" y="442595"/>
            <a:ext cx="16971336" cy="1010285"/>
          </a:xfrm>
          <a:prstGeom prst="rect">
            <a:avLst/>
          </a:prstGeom>
        </p:spPr>
        <p:txBody>
          <a:bodyPr lIns="0" tIns="0" rIns="0" bIns="0" rtlCol="0" anchor="t">
            <a:spAutoFit/>
          </a:bodyPr>
          <a:lstStyle/>
          <a:p>
            <a:pPr algn="ctr">
              <a:lnSpc>
                <a:spcPts val="7840"/>
              </a:lnSpc>
            </a:pPr>
            <a:r>
              <a:rPr lang="fr-FR" sz="5600" b="1" noProof="0" dirty="0">
                <a:solidFill>
                  <a:srgbClr val="EE3F1E"/>
                </a:solidFill>
                <a:latin typeface="Poppins Bold"/>
                <a:ea typeface="Poppins Bold"/>
                <a:cs typeface="Poppins Bold"/>
                <a:sym typeface="Poppins Bold"/>
              </a:rPr>
              <a:t>PERSPECTIVES</a:t>
            </a:r>
          </a:p>
        </p:txBody>
      </p:sp>
      <p:sp>
        <p:nvSpPr>
          <p:cNvPr id="4" name="TextBox 4"/>
          <p:cNvSpPr txBox="1"/>
          <p:nvPr/>
        </p:nvSpPr>
        <p:spPr>
          <a:xfrm>
            <a:off x="2417664" y="3139707"/>
            <a:ext cx="13452673" cy="1397000"/>
          </a:xfrm>
          <a:prstGeom prst="rect">
            <a:avLst/>
          </a:prstGeom>
        </p:spPr>
        <p:txBody>
          <a:bodyPr lIns="0" tIns="0" rIns="0" bIns="0" rtlCol="0" anchor="t">
            <a:spAutoFit/>
          </a:bodyPr>
          <a:lstStyle/>
          <a:p>
            <a:pPr algn="l">
              <a:lnSpc>
                <a:spcPts val="2800"/>
              </a:lnSpc>
            </a:pPr>
            <a:r>
              <a:rPr lang="fr-FR" sz="2000" noProof="0" dirty="0">
                <a:solidFill>
                  <a:srgbClr val="000000"/>
                </a:solidFill>
                <a:latin typeface="Garet"/>
                <a:ea typeface="Garet"/>
                <a:cs typeface="Garet"/>
                <a:sym typeface="Garet"/>
              </a:rPr>
              <a:t>Au-delà de son objectif académique, ce prototype constitue une base solide pouvant évoluer vers une solution professionnelle grâce à l'ajout de fonctionnalités telles qu'une version Web, une application mobile, l'intégration de lecteurs de codes-barres ou RFID, ou encore l'interconnexion avec un ERP.</a:t>
            </a:r>
          </a:p>
          <a:p>
            <a:pPr algn="l">
              <a:lnSpc>
                <a:spcPts val="2800"/>
              </a:lnSpc>
              <a:spcBef>
                <a:spcPct val="0"/>
              </a:spcBef>
            </a:pPr>
            <a:r>
              <a:rPr lang="fr-FR" sz="2000" noProof="0" dirty="0">
                <a:solidFill>
                  <a:srgbClr val="000000"/>
                </a:solidFill>
                <a:latin typeface="Garet"/>
                <a:ea typeface="Garet"/>
                <a:cs typeface="Garet"/>
                <a:sym typeface="Garet"/>
              </a:rPr>
              <a:t>perspectives</a:t>
            </a:r>
          </a:p>
        </p:txBody>
      </p:sp>
      <p:sp>
        <p:nvSpPr>
          <p:cNvPr id="7" name="Slide Number Placeholder 6">
            <a:extLst>
              <a:ext uri="{FF2B5EF4-FFF2-40B4-BE49-F238E27FC236}">
                <a16:creationId xmlns:a16="http://schemas.microsoft.com/office/drawing/2014/main" id="{1CF66C85-CB18-558C-92CB-4454C37F9208}"/>
              </a:ext>
            </a:extLst>
          </p:cNvPr>
          <p:cNvSpPr>
            <a:spLocks noGrp="1"/>
          </p:cNvSpPr>
          <p:nvPr>
            <p:ph type="sldNum" sz="quarter" idx="12"/>
          </p:nvPr>
        </p:nvSpPr>
        <p:spPr>
          <a:xfrm>
            <a:off x="15870337" y="9834608"/>
            <a:ext cx="2133600" cy="365125"/>
          </a:xfrm>
        </p:spPr>
        <p:txBody>
          <a:bodyPr/>
          <a:lstStyle/>
          <a:p>
            <a:fld id="{B6F15528-21DE-4FAA-801E-634DDDAF4B2B}" type="slidenum">
              <a:rPr lang="en-US" smtClean="0"/>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fr-FR" noProof="0" dirty="0"/>
          </a:p>
        </p:txBody>
      </p:sp>
      <p:sp>
        <p:nvSpPr>
          <p:cNvPr id="3" name="AutoShape 3"/>
          <p:cNvSpPr/>
          <p:nvPr/>
        </p:nvSpPr>
        <p:spPr>
          <a:xfrm>
            <a:off x="1028731" y="9229725"/>
            <a:ext cx="11860769" cy="19050"/>
          </a:xfrm>
          <a:prstGeom prst="line">
            <a:avLst/>
          </a:prstGeom>
          <a:ln w="19050" cap="flat">
            <a:solidFill>
              <a:srgbClr val="EE3F1E"/>
            </a:solidFill>
            <a:prstDash val="solid"/>
            <a:headEnd type="none" w="sm" len="sm"/>
            <a:tailEnd type="none" w="sm" len="sm"/>
          </a:ln>
        </p:spPr>
        <p:txBody>
          <a:bodyPr/>
          <a:lstStyle/>
          <a:p>
            <a:endParaRPr lang="fr-FR" noProof="0" dirty="0"/>
          </a:p>
        </p:txBody>
      </p:sp>
      <p:sp>
        <p:nvSpPr>
          <p:cNvPr id="5" name="TextBox 5"/>
          <p:cNvSpPr txBox="1"/>
          <p:nvPr/>
        </p:nvSpPr>
        <p:spPr>
          <a:xfrm>
            <a:off x="4185517" y="4194175"/>
            <a:ext cx="9916966" cy="1708151"/>
          </a:xfrm>
          <a:prstGeom prst="rect">
            <a:avLst/>
          </a:prstGeom>
        </p:spPr>
        <p:txBody>
          <a:bodyPr lIns="0" tIns="0" rIns="0" bIns="0" rtlCol="0" anchor="t">
            <a:spAutoFit/>
          </a:bodyPr>
          <a:lstStyle/>
          <a:p>
            <a:pPr algn="ctr">
              <a:lnSpc>
                <a:spcPts val="13999"/>
              </a:lnSpc>
            </a:pPr>
            <a:r>
              <a:rPr lang="fr-FR" sz="9999" b="1" noProof="0" dirty="0">
                <a:solidFill>
                  <a:srgbClr val="FFFFFF"/>
                </a:solidFill>
                <a:latin typeface="Garet Bold"/>
                <a:ea typeface="Garet Bold"/>
                <a:cs typeface="Garet Bold"/>
                <a:sym typeface="Garet Bold"/>
              </a:rPr>
              <a:t>THANK YOU</a:t>
            </a:r>
          </a:p>
        </p:txBody>
      </p:sp>
      <p:sp>
        <p:nvSpPr>
          <p:cNvPr id="7" name="Slide Number Placeholder 6">
            <a:extLst>
              <a:ext uri="{FF2B5EF4-FFF2-40B4-BE49-F238E27FC236}">
                <a16:creationId xmlns:a16="http://schemas.microsoft.com/office/drawing/2014/main" id="{DF0C3267-572F-FBA1-7E74-C8C852D876D2}"/>
              </a:ext>
            </a:extLst>
          </p:cNvPr>
          <p:cNvSpPr>
            <a:spLocks noGrp="1"/>
          </p:cNvSpPr>
          <p:nvPr>
            <p:ph type="sldNum" sz="quarter" idx="12"/>
          </p:nvPr>
        </p:nvSpPr>
        <p:spPr>
          <a:xfrm>
            <a:off x="16002000" y="9791700"/>
            <a:ext cx="2133600" cy="365125"/>
          </a:xfrm>
        </p:spPr>
        <p:txBody>
          <a:bodyPr/>
          <a:lstStyle/>
          <a:p>
            <a:fld id="{B6F15528-21DE-4FAA-801E-634DDDAF4B2B}" type="slidenum">
              <a:rPr lang="en-US" smtClean="0"/>
              <a:pPr/>
              <a:t>26</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1279</Words>
  <Application>Microsoft Office PowerPoint</Application>
  <PresentationFormat>Personnalisé</PresentationFormat>
  <Paragraphs>262</Paragraphs>
  <Slides>26</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26</vt:i4>
      </vt:variant>
    </vt:vector>
  </HeadingPairs>
  <TitlesOfParts>
    <vt:vector size="35" baseType="lpstr">
      <vt:lpstr>Poppins Bold</vt:lpstr>
      <vt:lpstr>Garet</vt:lpstr>
      <vt:lpstr>Poppins</vt:lpstr>
      <vt:lpstr>Calibri</vt:lpstr>
      <vt:lpstr>Segoe UI Bold</vt:lpstr>
      <vt:lpstr>Garet Bold</vt:lpstr>
      <vt:lpstr>Arial</vt:lpstr>
      <vt:lpstr>Aptos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Gray and Red Corporate Logistics Presentation</dc:title>
  <dc:creator>PC</dc:creator>
  <cp:lastModifiedBy>... TBJ</cp:lastModifiedBy>
  <cp:revision>6</cp:revision>
  <dcterms:created xsi:type="dcterms:W3CDTF">2006-08-16T00:00:00Z</dcterms:created>
  <dcterms:modified xsi:type="dcterms:W3CDTF">2026-07-06T21:25:27Z</dcterms:modified>
  <dc:identifier>DAHOIKPSJnU</dc:identifier>
</cp:coreProperties>
</file>